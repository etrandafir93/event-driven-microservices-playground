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5143500" cx="9144000"/>
  <p:notesSz cx="6858000" cy="9144000"/>
  <p:embeddedFontLst>
    <p:embeddedFont>
      <p:font typeface="Raleway"/>
      <p:regular r:id="rId89"/>
      <p:bold r:id="rId90"/>
      <p:italic r:id="rId91"/>
      <p:boldItalic r:id="rId92"/>
    </p:embeddedFont>
    <p:embeddedFont>
      <p:font typeface="Lato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aleway-regular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95" Type="http://schemas.openxmlformats.org/officeDocument/2006/relationships/font" Target="fonts/Lato-italic.fntdata"/><Relationship Id="rId50" Type="http://schemas.openxmlformats.org/officeDocument/2006/relationships/slide" Target="slides/slide45.xml"/><Relationship Id="rId94" Type="http://schemas.openxmlformats.org/officeDocument/2006/relationships/font" Target="fonts/Lato-bold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96" Type="http://schemas.openxmlformats.org/officeDocument/2006/relationships/font" Target="fonts/Lato-boldItalic.fntdata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aleway-italic.fntdata"/><Relationship Id="rId90" Type="http://schemas.openxmlformats.org/officeDocument/2006/relationships/font" Target="fonts/Raleway-bold.fntdata"/><Relationship Id="rId93" Type="http://schemas.openxmlformats.org/officeDocument/2006/relationships/font" Target="fonts/Lato-regular.fntdata"/><Relationship Id="rId92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01c5e4b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01c5e4b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323fb1c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323fb1c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01c5e4ba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01c5e4ba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a1b2184a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a1b2184a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56fb09c5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56fb09c5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56fb09c5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56fb09c5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56fb09c5e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56fb09c5e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56fb09c5e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56fb09c5e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56fb09c5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56fb09c5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8d2781dd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8d2781dd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8d2781dd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8d2781dd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56fb09c5e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56fb09c5e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56fb09c5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56fb09c5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56fb09c5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456fb09c5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56fb09c5e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56fb09c5e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56fb09c5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56fb09c5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56fb09c5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456fb09c5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56fb09c5e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456fb09c5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56fb09c5e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456fb09c5e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8ed59ef12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48ed59ef12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56fb09c5e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56fb09c5e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48ed59ef12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48ed59ef12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56fb09c5e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456fb09c5e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48ed59ef12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48ed59ef12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456fb09c5e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456fb09c5e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456fb09c5e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456fb09c5e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8c3d2128c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8c3d2128c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8c3d2128c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8c3d2128c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c3d2128c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8c3d2128c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8c3d2128c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8c3d2128c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456fb09c5e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456fb09c5e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77d4bddca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77d4bddca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8c3d2128c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8c3d2128c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7d4bddca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77d4bddca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77d4bddca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77d4bddca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77d4bddca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77d4bddca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77d4bddca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77d4bddca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77d4bddca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77d4bddca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48d2781dd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48d2781dd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48d2781dd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48d2781dd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77d4bddca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77d4bddca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4905d072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4905d072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77d4bddca6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77d4bddca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77d4bddca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77d4bddca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48d2781dd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48d2781dd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77d4bddca6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77d4bddca6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77d4bddca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77d4bddca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77d4bddca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77d4bddca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77d4bddca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77d4bddca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77d4bddca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377d4bddca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77d4bddca6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77d4bddca6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77d4bddca6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77d4bddca6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4905d072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4905d072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77d4bddca6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77d4bddca6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77d4bddca6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77d4bddca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77d4bddca6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77d4bddca6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48d2781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48d2781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77d4bddca6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77d4bddca6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77d4bddca6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77d4bddca6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77d4bddca6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77d4bddca6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77d4bddca6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77d4bddca6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77d4bddca6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77d4bddca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77d4bddca6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77d4bddca6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77d4bddca6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77d4bddca6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77d4bddca6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77d4bddca6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48d2781dd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48d2781dd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48ed59ef12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48ed59ef12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77d4bddca6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77d4bddca6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77d4bddca6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77d4bddca6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48d2781dd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348d2781dd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77d4bddca6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377d4bddca6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77d4bddca6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377d4bddca6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77d4bddca6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77d4bddca6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64c8d077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364c8d077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48d2781dd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48d2781dd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48d2781dd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48d2781dd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348d2781dd6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348d2781dd6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48d2781dd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348d2781dd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48d2781dd6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48d2781dd6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77d4bddca6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377d4bddca6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801c5e4ba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3801c5e4ba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48ed59ef12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348ed59ef12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Microservices</a:t>
            </a:r>
            <a:endParaRPr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-"/>
            </a:pPr>
            <a:r>
              <a:rPr i="1" lang="ro"/>
              <a:t>Patterns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38933" l="0" r="0" t="31638"/>
          <a:stretch/>
        </p:blipFill>
        <p:spPr>
          <a:xfrm>
            <a:off x="2565300" y="1798550"/>
            <a:ext cx="3711750" cy="13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67994" l="0" r="0" t="0"/>
          <a:stretch/>
        </p:blipFill>
        <p:spPr>
          <a:xfrm>
            <a:off x="2565300" y="343700"/>
            <a:ext cx="3711750" cy="147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60519"/>
          <a:stretch/>
        </p:blipFill>
        <p:spPr>
          <a:xfrm>
            <a:off x="2565300" y="3126457"/>
            <a:ext cx="3711750" cy="18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7197575" y="2281813"/>
            <a:ext cx="1462500" cy="781500"/>
          </a:xfrm>
          <a:prstGeom prst="wedgeRectCallout">
            <a:avLst>
              <a:gd fmla="val -121491" name="adj1"/>
              <a:gd fmla="val 111847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out-of-order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messages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370525" y="3267763"/>
            <a:ext cx="1620900" cy="849900"/>
          </a:xfrm>
          <a:prstGeom prst="wedgeRectCallout">
            <a:avLst>
              <a:gd fmla="val -124136" name="adj1"/>
              <a:gd fmla="val 3581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lost messages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&amp; data inconsistencies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935900" y="4322100"/>
            <a:ext cx="1462500" cy="714300"/>
          </a:xfrm>
          <a:prstGeom prst="wedgeRectCallout">
            <a:avLst>
              <a:gd fmla="val -100150" name="adj1"/>
              <a:gd fmla="val -103258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duplicate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messages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504850" y="1386675"/>
            <a:ext cx="1462500" cy="714300"/>
          </a:xfrm>
          <a:prstGeom prst="wedgeRectCallout">
            <a:avLst>
              <a:gd fmla="val -82744" name="adj1"/>
              <a:gd fmla="val 219449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race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conditions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43400" y="2285587"/>
            <a:ext cx="1620900" cy="714300"/>
          </a:xfrm>
          <a:prstGeom prst="wedgeRectCallout">
            <a:avLst>
              <a:gd fmla="val 69020" name="adj1"/>
              <a:gd fmla="val 93604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tight coupling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&amp; low cohesion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64425" y="3202438"/>
            <a:ext cx="1762800" cy="849900"/>
          </a:xfrm>
          <a:prstGeom prst="wedgeRectCallout">
            <a:avLst>
              <a:gd fmla="val 93237" name="adj1"/>
              <a:gd fmla="val 26102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increasingly harder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to add new services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82825" y="4254924"/>
            <a:ext cx="1620900" cy="781500"/>
          </a:xfrm>
          <a:prstGeom prst="wedgeRectCallout">
            <a:avLst>
              <a:gd fmla="val 86652" name="adj1"/>
              <a:gd fmla="val -61046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complex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error handling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🟩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Dual Write Problem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🟩 Inbox Pattern</a:t>
            </a:r>
            <a:endParaRPr sz="1900"/>
          </a:p>
        </p:txBody>
      </p:sp>
      <p:sp>
        <p:nvSpPr>
          <p:cNvPr id="106" name="Google Shape;106;p15"/>
          <p:cNvSpPr txBox="1"/>
          <p:nvPr>
            <p:ph type="title"/>
          </p:nvPr>
        </p:nvSpPr>
        <p:spPr>
          <a:xfrm>
            <a:off x="495000" y="1322275"/>
            <a:ext cx="38715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- </a:t>
            </a:r>
            <a:r>
              <a:rPr i="1" lang="ro"/>
              <a:t>Patterns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327800" y="1748125"/>
            <a:ext cx="8522100" cy="31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software architectural style is a general way to design a system: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2000"/>
              <a:buFont typeface="Arial"/>
              <a:buChar char="●"/>
            </a:pPr>
            <a:r>
              <a:rPr lang="ro" sz="2000">
                <a:solidFill>
                  <a:srgbClr val="2021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specifies how components are organized, </a:t>
            </a:r>
            <a:endParaRPr sz="2000">
              <a:solidFill>
                <a:srgbClr val="2021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000"/>
              <a:buFont typeface="Arial"/>
              <a:buChar char="●"/>
            </a:pPr>
            <a:r>
              <a:rPr lang="ro" sz="2000">
                <a:solidFill>
                  <a:srgbClr val="2021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how they interact, </a:t>
            </a:r>
            <a:endParaRPr sz="2000">
              <a:solidFill>
                <a:srgbClr val="2021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000"/>
              <a:buFont typeface="Arial"/>
              <a:buChar char="●"/>
            </a:pPr>
            <a:r>
              <a:rPr lang="ro" sz="2000">
                <a:solidFill>
                  <a:srgbClr val="2021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and the constraints on those interactions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Architectural Styles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✅</a:t>
            </a:r>
            <a:r>
              <a:rPr lang="ro" sz="1900"/>
              <a:t>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Dual Write Problem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🟩 Inbox Pattern</a:t>
            </a:r>
            <a:endParaRPr sz="1900"/>
          </a:p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495000" y="1322275"/>
            <a:ext cx="38715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- </a:t>
            </a:r>
            <a:r>
              <a:rPr i="1" lang="ro"/>
              <a:t>Patterns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142900" y="1453950"/>
            <a:ext cx="4952400" cy="3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central component (the </a:t>
            </a: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b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controls and coordinates </a:t>
            </a:r>
            <a:b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components.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tells each component </a:t>
            </a:r>
            <a:b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to do and when</a:t>
            </a:r>
            <a:b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other components just follow instructions; </a:t>
            </a: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hey don’t talk directly to each other</a:t>
            </a: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r>
              <a:rPr lang="ro"/>
              <a:t> </a:t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050" y="332876"/>
            <a:ext cx="3067575" cy="45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174250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3" name="Google Shape;143;p20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45" name="Google Shape;145;p20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6" name="Google Shape;146;p20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5" name="Google Shape;155;p21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1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58" name="Google Shape;158;p21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0" name="Google Shape;160;p21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2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73" name="Google Shape;173;p22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4" name="Google Shape;174;p22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6" name="Google Shape;176;p22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6" name="Google Shape;186;p23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3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89" name="Google Shape;189;p23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0" name="Google Shape;190;p23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2" name="Google Shape;192;p23"/>
          <p:cNvSpPr txBox="1"/>
          <p:nvPr/>
        </p:nvSpPr>
        <p:spPr>
          <a:xfrm>
            <a:off x="5753000" y="2833325"/>
            <a:ext cx="42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5535325" y="3022063"/>
            <a:ext cx="9336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out of stock</a:t>
            </a:r>
            <a:endParaRPr sz="10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" name="Google Shape;204;p24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4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207" name="Google Shape;207;p24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8" name="Google Shape;208;p24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0" name="Google Shape;210;p24"/>
          <p:cNvSpPr txBox="1"/>
          <p:nvPr/>
        </p:nvSpPr>
        <p:spPr>
          <a:xfrm>
            <a:off x="5753000" y="2833325"/>
            <a:ext cx="423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1" name="Google Shape;211;p24"/>
          <p:cNvCxnSpPr/>
          <p:nvPr/>
        </p:nvCxnSpPr>
        <p:spPr>
          <a:xfrm flipH="1" rot="10800000">
            <a:off x="5131475" y="21518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12" name="Google Shape;212;p24"/>
          <p:cNvSpPr txBox="1"/>
          <p:nvPr/>
        </p:nvSpPr>
        <p:spPr>
          <a:xfrm>
            <a:off x="5535325" y="3022063"/>
            <a:ext cx="9336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out of stock</a:t>
            </a:r>
            <a:endParaRPr sz="10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 rot="-1410697">
            <a:off x="5020746" y="21503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cancel</a:t>
            </a:r>
            <a:r>
              <a:rPr lang="ro" sz="11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.order</a:t>
            </a:r>
            <a:endParaRPr sz="11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4" name="Google Shape;224;p25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5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227" name="Google Shape;227;p25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8" name="Google Shape;228;p25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✅The components are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from each 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0" name="Google Shape;230;p25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0" name="Google Shape;240;p26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6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243" name="Google Shape;243;p26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4" name="Google Shape;244;p26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5" name="Google Shape;245;p26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✅The components are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from each 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6" name="Google Shape;246;p26"/>
          <p:cNvSpPr/>
          <p:nvPr/>
        </p:nvSpPr>
        <p:spPr>
          <a:xfrm>
            <a:off x="4578600" y="23355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4843275" y="28646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8" name="Google Shape;258;p27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7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261" name="Google Shape;261;p27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2" name="Google Shape;262;p27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3" name="Google Shape;263;p27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✅The components are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from each 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The orchestrator depends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all the other components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4" name="Google Shape;264;p27"/>
          <p:cNvSpPr/>
          <p:nvPr/>
        </p:nvSpPr>
        <p:spPr>
          <a:xfrm>
            <a:off x="4578600" y="23355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4843275" y="28646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6149025" y="366485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28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8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28"/>
          <p:cNvSpPr/>
          <p:nvPr/>
        </p:nvSpPr>
        <p:spPr>
          <a:xfrm>
            <a:off x="4578600" y="23355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4843275" y="28646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8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✅The components are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from each 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The orchestrator depends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all the other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282" name="Google Shape;282;p28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3" name="Google Shape;283;p28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84" name="Google Shape;284;p28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8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6149025" y="366485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5" name="Google Shape;295;p29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9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9"/>
          <p:cNvCxnSpPr/>
          <p:nvPr/>
        </p:nvCxnSpPr>
        <p:spPr>
          <a:xfrm>
            <a:off x="4970313" y="3590875"/>
            <a:ext cx="1178700" cy="5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8" name="Google Shape;298;p29"/>
          <p:cNvSpPr/>
          <p:nvPr/>
        </p:nvSpPr>
        <p:spPr>
          <a:xfrm>
            <a:off x="4578600" y="23355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4578600" y="33298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843275" y="28646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✅The components are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from each 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The orchestrator depends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all the other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302" name="Google Shape;302;p29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3" name="Google Shape;303;p29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4" name="Google Shape;304;p29"/>
          <p:cNvCxnSpPr/>
          <p:nvPr/>
        </p:nvCxnSpPr>
        <p:spPr>
          <a:xfrm>
            <a:off x="5041988" y="3438475"/>
            <a:ext cx="1178700" cy="5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29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 rot="1337421">
            <a:off x="5060462" y="3408734"/>
            <a:ext cx="1312152" cy="355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deliver.products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3226575" y="2191800"/>
            <a:ext cx="1932900" cy="16137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E-Commerce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Orchestrator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6149025" y="89640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6149025" y="3664850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7357925" y="2315525"/>
            <a:ext cx="1503300" cy="1295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7" name="Google Shape;317;p30"/>
          <p:cNvCxnSpPr/>
          <p:nvPr/>
        </p:nvCxnSpPr>
        <p:spPr>
          <a:xfrm flipH="1" rot="10800000">
            <a:off x="4889600" y="17859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0"/>
          <p:cNvCxnSpPr/>
          <p:nvPr/>
        </p:nvCxnSpPr>
        <p:spPr>
          <a:xfrm>
            <a:off x="5322700" y="28757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0"/>
          <p:cNvCxnSpPr/>
          <p:nvPr/>
        </p:nvCxnSpPr>
        <p:spPr>
          <a:xfrm>
            <a:off x="4970313" y="3590875"/>
            <a:ext cx="1178700" cy="5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20" name="Google Shape;320;p30"/>
          <p:cNvSpPr/>
          <p:nvPr/>
        </p:nvSpPr>
        <p:spPr>
          <a:xfrm>
            <a:off x="4578600" y="23355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4578600" y="33298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4843275" y="2864675"/>
            <a:ext cx="213600" cy="197100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0"/>
          <p:cNvSpPr txBox="1"/>
          <p:nvPr>
            <p:ph idx="1" type="body"/>
          </p:nvPr>
        </p:nvSpPr>
        <p:spPr>
          <a:xfrm>
            <a:off x="226800" y="1423725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✅The components are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from each other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The orchestrator depends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all the other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new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324" name="Google Shape;324;p30"/>
          <p:cNvCxnSpPr/>
          <p:nvPr/>
        </p:nvCxnSpPr>
        <p:spPr>
          <a:xfrm flipH="1" rot="10800000">
            <a:off x="5042000" y="1938375"/>
            <a:ext cx="1218000" cy="54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5" name="Google Shape;325;p30"/>
          <p:cNvCxnSpPr/>
          <p:nvPr/>
        </p:nvCxnSpPr>
        <p:spPr>
          <a:xfrm>
            <a:off x="5322700" y="3050363"/>
            <a:ext cx="1872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6" name="Google Shape;326;p30"/>
          <p:cNvCxnSpPr/>
          <p:nvPr/>
        </p:nvCxnSpPr>
        <p:spPr>
          <a:xfrm>
            <a:off x="5041988" y="3438475"/>
            <a:ext cx="1178700" cy="500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0"/>
          <p:cNvSpPr txBox="1"/>
          <p:nvPr/>
        </p:nvSpPr>
        <p:spPr>
          <a:xfrm rot="-1410697">
            <a:off x="4778871" y="1761459"/>
            <a:ext cx="1312244" cy="35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place.order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 rot="-786">
            <a:off x="5602596" y="2571906"/>
            <a:ext cx="1312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update.stock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 rot="1337421">
            <a:off x="5060462" y="3408734"/>
            <a:ext cx="1312152" cy="355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deliver.products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✅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</a:t>
            </a:r>
            <a:r>
              <a:rPr lang="ro" sz="1900"/>
              <a:t>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Dual Write Problem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🟩 Inbox Pattern</a:t>
            </a:r>
            <a:endParaRPr sz="1900"/>
          </a:p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495000" y="1322275"/>
            <a:ext cx="40116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Patterns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142900" y="1453950"/>
            <a:ext cx="5121600" cy="3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pattern where </a:t>
            </a: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service reacts to events</a:t>
            </a: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its own, without a central controller: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service decides what to do when it receives an event.</a:t>
            </a:r>
            <a:b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overall workflow emerges from the interaction between services.</a:t>
            </a:r>
            <a:endParaRPr sz="1800"/>
          </a:p>
        </p:txBody>
      </p:sp>
      <p:sp>
        <p:nvSpPr>
          <p:cNvPr id="341" name="Google Shape;341;p3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050" y="332875"/>
            <a:ext cx="3061725" cy="45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687425" y="587475"/>
            <a:ext cx="3017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348" name="Google Shape;348;p33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" name="Google Shape;349;p33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" name="Google Shape;350;p33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1" name="Google Shape;351;p33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3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53" name="Google Shape;353;p33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" name="Google Shape;356;p33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7" name="Google Shape;357;p33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58" name="Google Shape;358;p33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9" name="Google Shape;359;p33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360" name="Google Shape;360;p33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33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title"/>
          </p:nvPr>
        </p:nvSpPr>
        <p:spPr>
          <a:xfrm>
            <a:off x="687425" y="587475"/>
            <a:ext cx="3017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" name="Google Shape;368;p34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9" name="Google Shape;369;p34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0" name="Google Shape;370;p34"/>
          <p:cNvSpPr txBox="1"/>
          <p:nvPr>
            <p:ph idx="1" type="body"/>
          </p:nvPr>
        </p:nvSpPr>
        <p:spPr>
          <a:xfrm>
            <a:off x="1226075" y="1796550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371" name="Google Shape;371;p34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34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3" name="Google Shape;373;p34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34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7" name="Google Shape;377;p34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8" name="Google Shape;378;p34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9" name="Google Shape;379;p34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380" name="Google Shape;380;p34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34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2" name="Google Shape;382;p34"/>
          <p:cNvSpPr txBox="1"/>
          <p:nvPr>
            <p:ph idx="1" type="body"/>
          </p:nvPr>
        </p:nvSpPr>
        <p:spPr>
          <a:xfrm>
            <a:off x="584275" y="1381450"/>
            <a:ext cx="32457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687425" y="587475"/>
            <a:ext cx="3017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388" name="Google Shape;388;p35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" name="Google Shape;389;p35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35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" name="Google Shape;391;p35"/>
          <p:cNvSpPr txBox="1"/>
          <p:nvPr>
            <p:ph idx="1" type="body"/>
          </p:nvPr>
        </p:nvSpPr>
        <p:spPr>
          <a:xfrm>
            <a:off x="1226075" y="1796550"/>
            <a:ext cx="43452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392" name="Google Shape;392;p35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5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94" name="Google Shape;394;p35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" name="Google Shape;395;p35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7" name="Google Shape;397;p35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8" name="Google Shape;398;p35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99" name="Google Shape;399;p35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0" name="Google Shape;400;p35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401" name="Google Shape;401;p35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35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5478325" y="3074900"/>
            <a:ext cx="1587127" cy="481916"/>
          </a:xfrm>
          <a:custGeom>
            <a:rect b="b" l="l" r="r" t="t"/>
            <a:pathLst>
              <a:path extrusionOk="0" h="17529" w="61636">
                <a:moveTo>
                  <a:pt x="61636" y="12700"/>
                </a:moveTo>
                <a:cubicBezTo>
                  <a:pt x="43293" y="22877"/>
                  <a:pt x="13436" y="16109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404" name="Google Shape;404;p35"/>
          <p:cNvSpPr txBox="1"/>
          <p:nvPr/>
        </p:nvSpPr>
        <p:spPr>
          <a:xfrm rot="967874">
            <a:off x="5521462" y="3183173"/>
            <a:ext cx="1359423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stock.unavailable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5"/>
          <p:cNvSpPr txBox="1"/>
          <p:nvPr>
            <p:ph idx="1" type="body"/>
          </p:nvPr>
        </p:nvSpPr>
        <p:spPr>
          <a:xfrm>
            <a:off x="584275" y="1381450"/>
            <a:ext cx="32457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411" name="Google Shape;411;p36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" name="Google Shape;412;p36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36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4" name="Google Shape;414;p36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6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16" name="Google Shape;416;p36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" name="Google Shape;418;p36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" name="Google Shape;419;p36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0" name="Google Shape;420;p36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21" name="Google Shape;421;p36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2" name="Google Shape;422;p36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423" name="Google Shape;423;p36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" name="Google Shape;424;p36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5478325" y="3074900"/>
            <a:ext cx="1587127" cy="481916"/>
          </a:xfrm>
          <a:custGeom>
            <a:rect b="b" l="l" r="r" t="t"/>
            <a:pathLst>
              <a:path extrusionOk="0" h="17529" w="61636">
                <a:moveTo>
                  <a:pt x="61636" y="12700"/>
                </a:moveTo>
                <a:cubicBezTo>
                  <a:pt x="43293" y="22877"/>
                  <a:pt x="13436" y="16109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426" name="Google Shape;426;p36"/>
          <p:cNvSpPr txBox="1"/>
          <p:nvPr/>
        </p:nvSpPr>
        <p:spPr>
          <a:xfrm rot="967874">
            <a:off x="5521462" y="3183173"/>
            <a:ext cx="1359423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stock.unavailable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" name="Google Shape;427;p36"/>
          <p:cNvSpPr txBox="1"/>
          <p:nvPr>
            <p:ph idx="1" type="body"/>
          </p:nvPr>
        </p:nvSpPr>
        <p:spPr>
          <a:xfrm>
            <a:off x="584275" y="1381450"/>
            <a:ext cx="32457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to implement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433" name="Google Shape;433;p37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37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5" name="Google Shape;435;p37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36" name="Google Shape;436;p37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37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38" name="Google Shape;438;p37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37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37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" name="Google Shape;441;p37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2" name="Google Shape;442;p37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43" name="Google Shape;443;p37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4" name="Google Shape;444;p37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445" name="Google Shape;445;p37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" name="Google Shape;446;p37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5478325" y="3074900"/>
            <a:ext cx="1587127" cy="481916"/>
          </a:xfrm>
          <a:custGeom>
            <a:rect b="b" l="l" r="r" t="t"/>
            <a:pathLst>
              <a:path extrusionOk="0" h="17529" w="61636">
                <a:moveTo>
                  <a:pt x="61636" y="12700"/>
                </a:moveTo>
                <a:cubicBezTo>
                  <a:pt x="43293" y="22877"/>
                  <a:pt x="13436" y="16109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448" name="Google Shape;448;p37"/>
          <p:cNvSpPr txBox="1"/>
          <p:nvPr/>
        </p:nvSpPr>
        <p:spPr>
          <a:xfrm rot="967874">
            <a:off x="5521462" y="3183173"/>
            <a:ext cx="1359423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stock.unavailable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9" name="Google Shape;449;p37"/>
          <p:cNvSpPr/>
          <p:nvPr/>
        </p:nvSpPr>
        <p:spPr>
          <a:xfrm rot="157836">
            <a:off x="4608568" y="3679146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37"/>
          <p:cNvSpPr txBox="1"/>
          <p:nvPr/>
        </p:nvSpPr>
        <p:spPr>
          <a:xfrm rot="201660">
            <a:off x="4658327" y="3706793"/>
            <a:ext cx="1478844" cy="1259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</a:t>
            </a:r>
            <a:b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Replenishment</a:t>
            </a:r>
            <a:b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Service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5810375" y="3542075"/>
            <a:ext cx="479175" cy="227900"/>
          </a:xfrm>
          <a:custGeom>
            <a:rect b="b" l="l" r="r" t="t"/>
            <a:pathLst>
              <a:path extrusionOk="0" h="9116" w="19167">
                <a:moveTo>
                  <a:pt x="19167" y="0"/>
                </a:moveTo>
                <a:cubicBezTo>
                  <a:pt x="12092" y="0"/>
                  <a:pt x="4244" y="3455"/>
                  <a:pt x="0" y="911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452" name="Google Shape;452;p37"/>
          <p:cNvSpPr/>
          <p:nvPr/>
        </p:nvSpPr>
        <p:spPr>
          <a:xfrm rot="154618">
            <a:off x="5608587" y="37580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37"/>
          <p:cNvSpPr txBox="1"/>
          <p:nvPr>
            <p:ph idx="1" type="body"/>
          </p:nvPr>
        </p:nvSpPr>
        <p:spPr>
          <a:xfrm>
            <a:off x="584275" y="1381450"/>
            <a:ext cx="32457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to implement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460" name="Google Shape;460;p38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38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38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3" name="Google Shape;463;p38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38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65" name="Google Shape;465;p38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6" name="Google Shape;466;p38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7" name="Google Shape;467;p38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38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9" name="Google Shape;469;p38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70" name="Google Shape;470;p38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1" name="Google Shape;471;p38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472" name="Google Shape;472;p38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p38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5478325" y="3074900"/>
            <a:ext cx="1587127" cy="481916"/>
          </a:xfrm>
          <a:custGeom>
            <a:rect b="b" l="l" r="r" t="t"/>
            <a:pathLst>
              <a:path extrusionOk="0" h="17529" w="61636">
                <a:moveTo>
                  <a:pt x="61636" y="12700"/>
                </a:moveTo>
                <a:cubicBezTo>
                  <a:pt x="43293" y="22877"/>
                  <a:pt x="13436" y="16109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475" name="Google Shape;475;p38"/>
          <p:cNvSpPr txBox="1"/>
          <p:nvPr/>
        </p:nvSpPr>
        <p:spPr>
          <a:xfrm rot="967874">
            <a:off x="5521462" y="3183173"/>
            <a:ext cx="1359423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stock.unavailable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38"/>
          <p:cNvSpPr/>
          <p:nvPr/>
        </p:nvSpPr>
        <p:spPr>
          <a:xfrm rot="157836">
            <a:off x="4608568" y="3679146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p38"/>
          <p:cNvSpPr txBox="1"/>
          <p:nvPr/>
        </p:nvSpPr>
        <p:spPr>
          <a:xfrm rot="201660">
            <a:off x="4658327" y="3706793"/>
            <a:ext cx="1478844" cy="1259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</a:t>
            </a:r>
            <a:b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Replenishment</a:t>
            </a:r>
            <a:b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Service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5810375" y="3542075"/>
            <a:ext cx="479175" cy="227900"/>
          </a:xfrm>
          <a:custGeom>
            <a:rect b="b" l="l" r="r" t="t"/>
            <a:pathLst>
              <a:path extrusionOk="0" h="9116" w="19167">
                <a:moveTo>
                  <a:pt x="19167" y="0"/>
                </a:moveTo>
                <a:cubicBezTo>
                  <a:pt x="12092" y="0"/>
                  <a:pt x="4244" y="3455"/>
                  <a:pt x="0" y="911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479" name="Google Shape;479;p38"/>
          <p:cNvSpPr/>
          <p:nvPr/>
        </p:nvSpPr>
        <p:spPr>
          <a:xfrm rot="154618">
            <a:off x="5608587" y="37580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0" name="Google Shape;480;p38"/>
          <p:cNvSpPr txBox="1"/>
          <p:nvPr>
            <p:ph idx="1" type="body"/>
          </p:nvPr>
        </p:nvSpPr>
        <p:spPr>
          <a:xfrm>
            <a:off x="616250" y="1407025"/>
            <a:ext cx="32457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to implement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✅Scales Better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486" name="Google Shape;486;p3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Choreography</a:t>
            </a:r>
            <a:endParaRPr/>
          </a:p>
        </p:txBody>
      </p:sp>
      <p:sp>
        <p:nvSpPr>
          <p:cNvPr id="487" name="Google Shape;487;p39"/>
          <p:cNvSpPr/>
          <p:nvPr/>
        </p:nvSpPr>
        <p:spPr>
          <a:xfrm rot="157836">
            <a:off x="4346218" y="180432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Order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39"/>
          <p:cNvSpPr/>
          <p:nvPr/>
        </p:nvSpPr>
        <p:spPr>
          <a:xfrm rot="157836">
            <a:off x="6919592" y="2549051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Inventory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" name="Google Shape;489;p39"/>
          <p:cNvSpPr/>
          <p:nvPr/>
        </p:nvSpPr>
        <p:spPr>
          <a:xfrm rot="157836">
            <a:off x="6915816" y="566018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300">
                <a:latin typeface="Lato"/>
                <a:ea typeface="Lato"/>
                <a:cs typeface="Lato"/>
                <a:sym typeface="Lato"/>
              </a:rPr>
              <a:t>Shipping</a:t>
            </a:r>
            <a:br>
              <a:rPr lang="ro" sz="1300">
                <a:latin typeface="Lato"/>
                <a:ea typeface="Lato"/>
                <a:cs typeface="Lato"/>
                <a:sym typeface="Lato"/>
              </a:rPr>
            </a:br>
            <a:r>
              <a:rPr lang="ro" sz="1300">
                <a:latin typeface="Lato"/>
                <a:ea typeface="Lato"/>
                <a:cs typeface="Lato"/>
                <a:sym typeface="Lato"/>
              </a:rPr>
              <a:t>Service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0" name="Google Shape;490;p39"/>
          <p:cNvCxnSpPr/>
          <p:nvPr/>
        </p:nvCxnSpPr>
        <p:spPr>
          <a:xfrm rot="158211">
            <a:off x="5635807" y="2857701"/>
            <a:ext cx="1297674" cy="3231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39"/>
          <p:cNvCxnSpPr/>
          <p:nvPr/>
        </p:nvCxnSpPr>
        <p:spPr>
          <a:xfrm rot="-10642222">
            <a:off x="5830051" y="2561880"/>
            <a:ext cx="1268536" cy="3210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92" name="Google Shape;492;p39"/>
          <p:cNvSpPr/>
          <p:nvPr/>
        </p:nvSpPr>
        <p:spPr>
          <a:xfrm rot="154618">
            <a:off x="7065225" y="2898362"/>
            <a:ext cx="213516" cy="197319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39"/>
          <p:cNvSpPr txBox="1"/>
          <p:nvPr/>
        </p:nvSpPr>
        <p:spPr>
          <a:xfrm rot="968220">
            <a:off x="5665535" y="2919143"/>
            <a:ext cx="11830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order.placed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39"/>
          <p:cNvSpPr txBox="1"/>
          <p:nvPr/>
        </p:nvSpPr>
        <p:spPr>
          <a:xfrm rot="968076">
            <a:off x="5850803" y="2646932"/>
            <a:ext cx="1160511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stock.reserved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39"/>
          <p:cNvSpPr/>
          <p:nvPr/>
        </p:nvSpPr>
        <p:spPr>
          <a:xfrm rot="154618">
            <a:off x="5482862" y="24773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6" name="Google Shape;496;p39"/>
          <p:cNvCxnSpPr/>
          <p:nvPr/>
        </p:nvCxnSpPr>
        <p:spPr>
          <a:xfrm rot="-5400000">
            <a:off x="6503875" y="1925075"/>
            <a:ext cx="897900" cy="75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97" name="Google Shape;497;p39"/>
          <p:cNvSpPr/>
          <p:nvPr/>
        </p:nvSpPr>
        <p:spPr>
          <a:xfrm rot="154618">
            <a:off x="7275187" y="1568499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8" name="Google Shape;498;p39"/>
          <p:cNvCxnSpPr/>
          <p:nvPr/>
        </p:nvCxnSpPr>
        <p:spPr>
          <a:xfrm flipH="1" rot="-10641493">
            <a:off x="5739406" y="1577591"/>
            <a:ext cx="1373360" cy="6763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triangle"/>
            <a:tailEnd len="med" w="med" type="none"/>
          </a:ln>
        </p:spPr>
      </p:cxnSp>
      <p:sp>
        <p:nvSpPr>
          <p:cNvPr id="499" name="Google Shape;499;p39"/>
          <p:cNvSpPr txBox="1"/>
          <p:nvPr/>
        </p:nvSpPr>
        <p:spPr>
          <a:xfrm rot="-1332710">
            <a:off x="5762443" y="1603511"/>
            <a:ext cx="1244339" cy="35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product.shipped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0" name="Google Shape;500;p39"/>
          <p:cNvSpPr/>
          <p:nvPr/>
        </p:nvSpPr>
        <p:spPr>
          <a:xfrm rot="154618">
            <a:off x="5385992" y="1978141"/>
            <a:ext cx="213516" cy="197319"/>
          </a:xfrm>
          <a:prstGeom prst="triangl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5478325" y="3074900"/>
            <a:ext cx="1587127" cy="481916"/>
          </a:xfrm>
          <a:custGeom>
            <a:rect b="b" l="l" r="r" t="t"/>
            <a:pathLst>
              <a:path extrusionOk="0" h="17529" w="61636">
                <a:moveTo>
                  <a:pt x="61636" y="12700"/>
                </a:moveTo>
                <a:cubicBezTo>
                  <a:pt x="43293" y="22877"/>
                  <a:pt x="13436" y="16109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502" name="Google Shape;502;p39"/>
          <p:cNvSpPr txBox="1"/>
          <p:nvPr/>
        </p:nvSpPr>
        <p:spPr>
          <a:xfrm rot="967874">
            <a:off x="5521462" y="3183173"/>
            <a:ext cx="1359423" cy="355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stock.unavailable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3" name="Google Shape;503;p39"/>
          <p:cNvSpPr/>
          <p:nvPr/>
        </p:nvSpPr>
        <p:spPr>
          <a:xfrm rot="157836">
            <a:off x="4608568" y="3679146"/>
            <a:ext cx="1503384" cy="1295277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" name="Google Shape;504;p39"/>
          <p:cNvSpPr txBox="1"/>
          <p:nvPr/>
        </p:nvSpPr>
        <p:spPr>
          <a:xfrm rot="201660">
            <a:off x="4658327" y="3706793"/>
            <a:ext cx="1478844" cy="1259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Stock</a:t>
            </a:r>
            <a:b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Replenishment</a:t>
            </a:r>
            <a:b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Service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5810375" y="3542075"/>
            <a:ext cx="479175" cy="227900"/>
          </a:xfrm>
          <a:custGeom>
            <a:rect b="b" l="l" r="r" t="t"/>
            <a:pathLst>
              <a:path extrusionOk="0" h="9116" w="19167">
                <a:moveTo>
                  <a:pt x="19167" y="0"/>
                </a:moveTo>
                <a:cubicBezTo>
                  <a:pt x="12092" y="0"/>
                  <a:pt x="4244" y="3455"/>
                  <a:pt x="0" y="911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506" name="Google Shape;506;p39"/>
          <p:cNvSpPr/>
          <p:nvPr/>
        </p:nvSpPr>
        <p:spPr>
          <a:xfrm rot="154618">
            <a:off x="5608587" y="3758048"/>
            <a:ext cx="213516" cy="197319"/>
          </a:xfrm>
          <a:prstGeom prst="triangle">
            <a:avLst>
              <a:gd fmla="val 50000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7" name="Google Shape;507;p39"/>
          <p:cNvSpPr txBox="1"/>
          <p:nvPr>
            <p:ph idx="1" type="body"/>
          </p:nvPr>
        </p:nvSpPr>
        <p:spPr>
          <a:xfrm>
            <a:off x="584275" y="1381450"/>
            <a:ext cx="3245700" cy="3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✅Simpler to implement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components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✅Scales Better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Harder to implements 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❌Cyclic Dependencies are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/>
          <p:nvPr/>
        </p:nvSpPr>
        <p:spPr>
          <a:xfrm>
            <a:off x="985088" y="25681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2286313" y="195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2485388" y="34503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3530013" y="27046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3752388" y="133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6007488" y="30094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6749788" y="202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7422388" y="264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7486313" y="37287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6587988" y="41382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4579313" y="34215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3" name="Google Shape;523;p4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 vs Choreography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1"/>
          <p:cNvSpPr/>
          <p:nvPr/>
        </p:nvSpPr>
        <p:spPr>
          <a:xfrm>
            <a:off x="6434025" y="1211650"/>
            <a:ext cx="2220600" cy="3719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985088" y="25681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2286313" y="195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2485388" y="34503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3530013" y="27046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3752388" y="133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4" name="Google Shape;534;p41"/>
          <p:cNvSpPr/>
          <p:nvPr/>
        </p:nvSpPr>
        <p:spPr>
          <a:xfrm>
            <a:off x="6007488" y="30094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" name="Google Shape;535;p41"/>
          <p:cNvSpPr/>
          <p:nvPr/>
        </p:nvSpPr>
        <p:spPr>
          <a:xfrm>
            <a:off x="6749788" y="202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6" name="Google Shape;536;p41"/>
          <p:cNvSpPr/>
          <p:nvPr/>
        </p:nvSpPr>
        <p:spPr>
          <a:xfrm>
            <a:off x="7422388" y="264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" name="Google Shape;537;p41"/>
          <p:cNvSpPr/>
          <p:nvPr/>
        </p:nvSpPr>
        <p:spPr>
          <a:xfrm>
            <a:off x="7486313" y="37287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6587988" y="41382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4579313" y="34215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0" name="Google Shape;540;p41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 vs Choreography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/>
          <p:nvPr/>
        </p:nvSpPr>
        <p:spPr>
          <a:xfrm>
            <a:off x="873225" y="1211650"/>
            <a:ext cx="5379300" cy="3719400"/>
          </a:xfrm>
          <a:prstGeom prst="rect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42"/>
          <p:cNvSpPr/>
          <p:nvPr/>
        </p:nvSpPr>
        <p:spPr>
          <a:xfrm>
            <a:off x="6434025" y="1211650"/>
            <a:ext cx="2220600" cy="3719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42"/>
          <p:cNvSpPr/>
          <p:nvPr/>
        </p:nvSpPr>
        <p:spPr>
          <a:xfrm>
            <a:off x="985088" y="25681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8" name="Google Shape;548;p42"/>
          <p:cNvSpPr/>
          <p:nvPr/>
        </p:nvSpPr>
        <p:spPr>
          <a:xfrm>
            <a:off x="2286313" y="195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9" name="Google Shape;549;p42"/>
          <p:cNvSpPr/>
          <p:nvPr/>
        </p:nvSpPr>
        <p:spPr>
          <a:xfrm>
            <a:off x="2485388" y="34503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0" name="Google Shape;550;p42"/>
          <p:cNvSpPr/>
          <p:nvPr/>
        </p:nvSpPr>
        <p:spPr>
          <a:xfrm>
            <a:off x="3530013" y="27046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1" name="Google Shape;551;p42"/>
          <p:cNvSpPr/>
          <p:nvPr/>
        </p:nvSpPr>
        <p:spPr>
          <a:xfrm>
            <a:off x="3752388" y="133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6007488" y="30094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3" name="Google Shape;553;p42"/>
          <p:cNvSpPr/>
          <p:nvPr/>
        </p:nvSpPr>
        <p:spPr>
          <a:xfrm>
            <a:off x="6749788" y="202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7422388" y="264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7486313" y="37287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" name="Google Shape;556;p42"/>
          <p:cNvSpPr/>
          <p:nvPr/>
        </p:nvSpPr>
        <p:spPr>
          <a:xfrm>
            <a:off x="6587988" y="41382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42"/>
          <p:cNvSpPr/>
          <p:nvPr/>
        </p:nvSpPr>
        <p:spPr>
          <a:xfrm>
            <a:off x="4579313" y="34215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" name="Google Shape;558;p4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 vs Choreography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3"/>
          <p:cNvSpPr/>
          <p:nvPr/>
        </p:nvSpPr>
        <p:spPr>
          <a:xfrm>
            <a:off x="873225" y="1211650"/>
            <a:ext cx="5379300" cy="3719400"/>
          </a:xfrm>
          <a:prstGeom prst="rect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4" name="Google Shape;564;p43"/>
          <p:cNvSpPr/>
          <p:nvPr/>
        </p:nvSpPr>
        <p:spPr>
          <a:xfrm>
            <a:off x="6434025" y="1211650"/>
            <a:ext cx="2220600" cy="3719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5" name="Google Shape;565;p43"/>
          <p:cNvSpPr/>
          <p:nvPr/>
        </p:nvSpPr>
        <p:spPr>
          <a:xfrm>
            <a:off x="985088" y="25681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6" name="Google Shape;566;p43"/>
          <p:cNvSpPr/>
          <p:nvPr/>
        </p:nvSpPr>
        <p:spPr>
          <a:xfrm>
            <a:off x="2286313" y="195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2485388" y="34503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" name="Google Shape;568;p43"/>
          <p:cNvSpPr/>
          <p:nvPr/>
        </p:nvSpPr>
        <p:spPr>
          <a:xfrm>
            <a:off x="3530013" y="27046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43"/>
          <p:cNvSpPr/>
          <p:nvPr/>
        </p:nvSpPr>
        <p:spPr>
          <a:xfrm>
            <a:off x="3752388" y="133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6007488" y="300940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" name="Google Shape;571;p43"/>
          <p:cNvSpPr/>
          <p:nvPr/>
        </p:nvSpPr>
        <p:spPr>
          <a:xfrm>
            <a:off x="6749788" y="20293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43"/>
          <p:cNvSpPr/>
          <p:nvPr/>
        </p:nvSpPr>
        <p:spPr>
          <a:xfrm>
            <a:off x="7422388" y="26437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7486313" y="37287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6587988" y="4138275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5" name="Google Shape;575;p43"/>
          <p:cNvSpPr/>
          <p:nvPr/>
        </p:nvSpPr>
        <p:spPr>
          <a:xfrm>
            <a:off x="4579313" y="3421550"/>
            <a:ext cx="672600" cy="6144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6" name="Google Shape;576;p43"/>
          <p:cNvCxnSpPr/>
          <p:nvPr/>
        </p:nvCxnSpPr>
        <p:spPr>
          <a:xfrm>
            <a:off x="1569388" y="3035450"/>
            <a:ext cx="1006200" cy="5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3"/>
          <p:cNvCxnSpPr>
            <a:endCxn id="568" idx="3"/>
          </p:cNvCxnSpPr>
          <p:nvPr/>
        </p:nvCxnSpPr>
        <p:spPr>
          <a:xfrm>
            <a:off x="1657713" y="2865150"/>
            <a:ext cx="1872300" cy="1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3"/>
          <p:cNvCxnSpPr/>
          <p:nvPr/>
        </p:nvCxnSpPr>
        <p:spPr>
          <a:xfrm flipH="1" rot="10800000">
            <a:off x="1550338" y="2404450"/>
            <a:ext cx="8232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3"/>
          <p:cNvCxnSpPr/>
          <p:nvPr/>
        </p:nvCxnSpPr>
        <p:spPr>
          <a:xfrm>
            <a:off x="2868263" y="2425175"/>
            <a:ext cx="750600" cy="42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3"/>
          <p:cNvCxnSpPr/>
          <p:nvPr/>
        </p:nvCxnSpPr>
        <p:spPr>
          <a:xfrm flipH="1">
            <a:off x="3866188" y="1955125"/>
            <a:ext cx="206100" cy="7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3"/>
          <p:cNvCxnSpPr>
            <a:endCxn id="575" idx="3"/>
          </p:cNvCxnSpPr>
          <p:nvPr/>
        </p:nvCxnSpPr>
        <p:spPr>
          <a:xfrm flipH="1" rot="10800000">
            <a:off x="3157913" y="3728750"/>
            <a:ext cx="1421400" cy="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3"/>
          <p:cNvCxnSpPr/>
          <p:nvPr/>
        </p:nvCxnSpPr>
        <p:spPr>
          <a:xfrm>
            <a:off x="4339838" y="1806175"/>
            <a:ext cx="1752900" cy="134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3"/>
          <p:cNvCxnSpPr/>
          <p:nvPr/>
        </p:nvCxnSpPr>
        <p:spPr>
          <a:xfrm flipH="1" rot="10800000">
            <a:off x="5184938" y="3468350"/>
            <a:ext cx="903600" cy="13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3"/>
          <p:cNvCxnSpPr/>
          <p:nvPr/>
        </p:nvCxnSpPr>
        <p:spPr>
          <a:xfrm>
            <a:off x="4110663" y="3182575"/>
            <a:ext cx="551700" cy="3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3"/>
          <p:cNvCxnSpPr>
            <a:endCxn id="574" idx="4"/>
          </p:cNvCxnSpPr>
          <p:nvPr/>
        </p:nvCxnSpPr>
        <p:spPr>
          <a:xfrm>
            <a:off x="6509954" y="3604575"/>
            <a:ext cx="255300" cy="5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3"/>
          <p:cNvCxnSpPr/>
          <p:nvPr/>
        </p:nvCxnSpPr>
        <p:spPr>
          <a:xfrm>
            <a:off x="6624888" y="3447250"/>
            <a:ext cx="951600" cy="43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3"/>
          <p:cNvCxnSpPr/>
          <p:nvPr/>
        </p:nvCxnSpPr>
        <p:spPr>
          <a:xfrm flipH="1" rot="10800000">
            <a:off x="6643913" y="3087350"/>
            <a:ext cx="857100" cy="1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3"/>
          <p:cNvCxnSpPr>
            <a:endCxn id="571" idx="2"/>
          </p:cNvCxnSpPr>
          <p:nvPr/>
        </p:nvCxnSpPr>
        <p:spPr>
          <a:xfrm flipH="1" rot="10800000">
            <a:off x="6510054" y="2643775"/>
            <a:ext cx="417000" cy="3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89" name="Google Shape;589;p43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Orchestration vs Choreography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✅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Dual Write Problem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🟩 Inbox Pattern</a:t>
            </a:r>
            <a:endParaRPr sz="1900"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495000" y="1322275"/>
            <a:ext cx="39924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Patterns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5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01" name="Google Shape;60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5"/>
          <p:cNvSpPr txBox="1"/>
          <p:nvPr>
            <p:ph idx="1" type="body"/>
          </p:nvPr>
        </p:nvSpPr>
        <p:spPr>
          <a:xfrm>
            <a:off x="1287400" y="1582175"/>
            <a:ext cx="7056300" cy="3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1" lang="r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r>
              <a:rPr lang="r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= any operation that </a:t>
            </a:r>
            <a:r>
              <a:rPr b="1" i="1" lang="r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modifies</a:t>
            </a:r>
            <a:r>
              <a:rPr lang="r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 / updating the DB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publishing a message to a message broker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sending a HTTP POST/PUT request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updating a file on the file system</a:t>
            </a:r>
            <a:b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i="1"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reading a message from the message broker ? </a:t>
            </a:r>
            <a:br>
              <a:rPr i="1"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🤔 </a:t>
            </a:r>
            <a:r>
              <a:rPr i="1" lang="ro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committing the offers / ack the message</a:t>
            </a:r>
            <a:endParaRPr i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08" name="Google Shape;608;p46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46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46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" name="Google Shape;612;p46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3" name="Google Shape;613;p46"/>
          <p:cNvCxnSpPr>
            <a:stCxn id="612" idx="3"/>
            <a:endCxn id="608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46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5" name="Google Shape;615;p46"/>
          <p:cNvCxnSpPr>
            <a:stCxn id="614" idx="3"/>
            <a:endCxn id="609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7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21" name="Google Shape;621;p47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47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3" name="Google Shape;623;p47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" name="Google Shape;624;p47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p47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6" name="Google Shape;626;p47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32" name="Google Shape;632;p48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48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5" name="Google Shape;635;p48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7" name="Google Shape;637;p48"/>
          <p:cNvCxnSpPr>
            <a:stCxn id="636" idx="3"/>
            <a:endCxn id="632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8" name="Google Shape;638;p48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44" name="Google Shape;644;p49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" name="Google Shape;645;p49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7" name="Google Shape;647;p49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8" name="Google Shape;648;p49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9" name="Google Shape;649;p49"/>
          <p:cNvCxnSpPr>
            <a:stCxn id="648" idx="3"/>
            <a:endCxn id="644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0" name="Google Shape;650;p49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" name="Google Shape;651;p49"/>
          <p:cNvSpPr txBox="1"/>
          <p:nvPr/>
        </p:nvSpPr>
        <p:spPr>
          <a:xfrm>
            <a:off x="3124475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57" name="Google Shape;657;p50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" name="Google Shape;658;p50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50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50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50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2" name="Google Shape;662;p50"/>
          <p:cNvCxnSpPr>
            <a:stCxn id="661" idx="3"/>
            <a:endCxn id="657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3" name="Google Shape;663;p50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4" name="Google Shape;664;p50"/>
          <p:cNvCxnSpPr>
            <a:stCxn id="663" idx="3"/>
            <a:endCxn id="658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5" name="Google Shape;665;p50"/>
          <p:cNvSpPr txBox="1"/>
          <p:nvPr/>
        </p:nvSpPr>
        <p:spPr>
          <a:xfrm>
            <a:off x="31244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6" name="Google Shape;666;p50"/>
          <p:cNvSpPr txBox="1"/>
          <p:nvPr/>
        </p:nvSpPr>
        <p:spPr>
          <a:xfrm>
            <a:off x="3124475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1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72" name="Google Shape;672;p51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3" name="Google Shape;673;p51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4" name="Google Shape;674;p51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5" name="Google Shape;675;p51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6" name="Google Shape;676;p51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7" name="Google Shape;677;p51"/>
          <p:cNvCxnSpPr>
            <a:stCxn id="676" idx="3"/>
            <a:endCxn id="672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8" name="Google Shape;678;p51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9" name="Google Shape;679;p51"/>
          <p:cNvCxnSpPr>
            <a:stCxn id="678" idx="3"/>
            <a:endCxn id="673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51"/>
          <p:cNvSpPr txBox="1"/>
          <p:nvPr/>
        </p:nvSpPr>
        <p:spPr>
          <a:xfrm>
            <a:off x="31244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1" name="Google Shape;681;p51"/>
          <p:cNvSpPr txBox="1"/>
          <p:nvPr/>
        </p:nvSpPr>
        <p:spPr>
          <a:xfrm>
            <a:off x="3124475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687" name="Google Shape;687;p52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8" name="Google Shape;688;p52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" name="Google Shape;689;p52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" name="Google Shape;690;p52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1" name="Google Shape;691;p52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2" name="Google Shape;692;p52"/>
          <p:cNvCxnSpPr>
            <a:stCxn id="691" idx="3"/>
            <a:endCxn id="687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52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4" name="Google Shape;694;p52"/>
          <p:cNvCxnSpPr>
            <a:stCxn id="693" idx="3"/>
            <a:endCxn id="688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5" name="Google Shape;695;p52"/>
          <p:cNvSpPr txBox="1"/>
          <p:nvPr/>
        </p:nvSpPr>
        <p:spPr>
          <a:xfrm>
            <a:off x="31244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" name="Google Shape;696;p52"/>
          <p:cNvSpPr txBox="1"/>
          <p:nvPr/>
        </p:nvSpPr>
        <p:spPr>
          <a:xfrm>
            <a:off x="3124475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52"/>
          <p:cNvSpPr/>
          <p:nvPr/>
        </p:nvSpPr>
        <p:spPr>
          <a:xfrm>
            <a:off x="5194775" y="1194600"/>
            <a:ext cx="3565200" cy="12345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6FE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52"/>
          <p:cNvSpPr txBox="1"/>
          <p:nvPr/>
        </p:nvSpPr>
        <p:spPr>
          <a:xfrm>
            <a:off x="5270525" y="1331550"/>
            <a:ext cx="34137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o" sz="1100"/>
              <a:t>At Most Once Delivery</a:t>
            </a:r>
            <a:r>
              <a:rPr lang="ro" sz="1100"/>
              <a:t>: a message is sent at most one time — it may be lost, but it won’t be delivered more than once.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100"/>
              <a:t>+ No duplicates            - Possible message loss</a:t>
            </a:r>
            <a:br>
              <a:rPr lang="ro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ro" sz="1100"/>
            </a:b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3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704" name="Google Shape;704;p53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" name="Google Shape;705;p53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" name="Google Shape;706;p53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7" name="Google Shape;707;p53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8" name="Google Shape;708;p53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9" name="Google Shape;709;p53"/>
          <p:cNvCxnSpPr>
            <a:stCxn id="708" idx="3"/>
            <a:endCxn id="704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0" name="Google Shape;710;p53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11" name="Google Shape;711;p53"/>
          <p:cNvCxnSpPr>
            <a:stCxn id="710" idx="3"/>
            <a:endCxn id="705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53"/>
          <p:cNvSpPr txBox="1"/>
          <p:nvPr/>
        </p:nvSpPr>
        <p:spPr>
          <a:xfrm>
            <a:off x="31244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3" name="Google Shape;713;p53"/>
          <p:cNvSpPr txBox="1"/>
          <p:nvPr/>
        </p:nvSpPr>
        <p:spPr>
          <a:xfrm>
            <a:off x="3124475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4" name="Google Shape;714;p53"/>
          <p:cNvSpPr/>
          <p:nvPr/>
        </p:nvSpPr>
        <p:spPr>
          <a:xfrm>
            <a:off x="5194775" y="1194600"/>
            <a:ext cx="3565200" cy="12345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6FE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" name="Google Shape;715;p53"/>
          <p:cNvSpPr txBox="1"/>
          <p:nvPr/>
        </p:nvSpPr>
        <p:spPr>
          <a:xfrm>
            <a:off x="5270525" y="1331550"/>
            <a:ext cx="34137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o" sz="1100"/>
              <a:t>At Most Once Delivery</a:t>
            </a:r>
            <a:r>
              <a:rPr lang="ro" sz="1100"/>
              <a:t>: a message is sent at most one time — it may be lost, but it won’t be delivered more than once.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100"/>
              <a:t>+ No duplicates            - Possible message loss</a:t>
            </a:r>
            <a:br>
              <a:rPr lang="ro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o" sz="1100"/>
              <a:t>At Least Once Delivery</a:t>
            </a:r>
            <a:r>
              <a:rPr lang="ro" sz="1100"/>
              <a:t>: a means a message is sent one or more times — it’s guaranteed to arrive, but might be delivered more than once.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100"/>
              <a:t>- Possible duplicates          + No message loss</a:t>
            </a:r>
            <a:br>
              <a:rPr lang="ro" sz="1100"/>
            </a:b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4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721" name="Google Shape;721;p54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" name="Google Shape;722;p54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4" name="Google Shape;724;p54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" name="Google Shape;725;p54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6" name="Google Shape;726;p54"/>
          <p:cNvCxnSpPr>
            <a:stCxn id="725" idx="3"/>
            <a:endCxn id="721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54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8" name="Google Shape;728;p54"/>
          <p:cNvCxnSpPr>
            <a:stCxn id="727" idx="3"/>
            <a:endCxn id="722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5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734" name="Google Shape;734;p55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5" name="Google Shape;735;p55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6" name="Google Shape;736;p55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7" name="Google Shape;737;p55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8" name="Google Shape;738;p55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9" name="Google Shape;739;p55"/>
          <p:cNvCxnSpPr>
            <a:stCxn id="738" idx="3"/>
            <a:endCxn id="734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0" name="Google Shape;740;p55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41" name="Google Shape;741;p55"/>
          <p:cNvCxnSpPr>
            <a:stCxn id="740" idx="3"/>
            <a:endCxn id="735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2" name="Google Shape;742;p55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748" name="Google Shape;748;p56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9" name="Google Shape;749;p56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" name="Google Shape;750;p56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" name="Google Shape;751;p56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" name="Google Shape;752;p56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3" name="Google Shape;753;p56"/>
          <p:cNvCxnSpPr>
            <a:stCxn id="752" idx="3"/>
            <a:endCxn id="748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p56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5" name="Google Shape;755;p56"/>
          <p:cNvCxnSpPr>
            <a:stCxn id="754" idx="3"/>
            <a:endCxn id="749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6" name="Google Shape;756;p56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7" name="Google Shape;757;p56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8" name="Google Shape;758;p56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7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764" name="Google Shape;764;p57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5" name="Google Shape;765;p57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6" name="Google Shape;766;p57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7" name="Google Shape;767;p57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8" name="Google Shape;768;p57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69" name="Google Shape;769;p57"/>
          <p:cNvCxnSpPr>
            <a:stCxn id="768" idx="3"/>
            <a:endCxn id="764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0" name="Google Shape;770;p57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1" name="Google Shape;771;p57"/>
          <p:cNvCxnSpPr>
            <a:stCxn id="770" idx="3"/>
            <a:endCxn id="765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2" name="Google Shape;772;p57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3" name="Google Shape;773;p57"/>
          <p:cNvSpPr/>
          <p:nvPr/>
        </p:nvSpPr>
        <p:spPr>
          <a:xfrm>
            <a:off x="1308725" y="35727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// rollback transaction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4" name="Google Shape;774;p57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5" name="Google Shape;775;p57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6" name="Google Shape;776;p57"/>
          <p:cNvCxnSpPr/>
          <p:nvPr/>
        </p:nvCxnSpPr>
        <p:spPr>
          <a:xfrm flipH="1" rot="10800000">
            <a:off x="2833325" y="3902750"/>
            <a:ext cx="617100" cy="33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57"/>
          <p:cNvCxnSpPr/>
          <p:nvPr/>
        </p:nvCxnSpPr>
        <p:spPr>
          <a:xfrm rot="10800000">
            <a:off x="3436350" y="2457050"/>
            <a:ext cx="12900" cy="14460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7"/>
          <p:cNvCxnSpPr/>
          <p:nvPr/>
        </p:nvCxnSpPr>
        <p:spPr>
          <a:xfrm flipH="1" rot="10800000">
            <a:off x="3436450" y="2459675"/>
            <a:ext cx="266400" cy="39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79" name="Google Shape;779;p57"/>
          <p:cNvSpPr txBox="1"/>
          <p:nvPr/>
        </p:nvSpPr>
        <p:spPr>
          <a:xfrm>
            <a:off x="3185250" y="2192425"/>
            <a:ext cx="23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( </a:t>
            </a:r>
            <a:r>
              <a:rPr lang="ro" sz="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rollback </a:t>
            </a:r>
            <a:r>
              <a:rPr lang="ro" sz="7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6" name="Google Shape;786;p58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8" name="Google Shape;788;p58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9" name="Google Shape;789;p58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0" name="Google Shape;790;p58"/>
          <p:cNvCxnSpPr>
            <a:stCxn id="789" idx="3"/>
            <a:endCxn id="785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58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2" name="Google Shape;792;p58"/>
          <p:cNvCxnSpPr>
            <a:stCxn id="791" idx="3"/>
            <a:endCxn id="786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p58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4" name="Google Shape;794;p58"/>
          <p:cNvSpPr/>
          <p:nvPr/>
        </p:nvSpPr>
        <p:spPr>
          <a:xfrm>
            <a:off x="1308725" y="35727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// rollback transaction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5" name="Google Shape;795;p58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6" name="Google Shape;796;p58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7" name="Google Shape;797;p58"/>
          <p:cNvCxnSpPr/>
          <p:nvPr/>
        </p:nvCxnSpPr>
        <p:spPr>
          <a:xfrm flipH="1" rot="10800000">
            <a:off x="2833325" y="3902750"/>
            <a:ext cx="617100" cy="33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58"/>
          <p:cNvCxnSpPr/>
          <p:nvPr/>
        </p:nvCxnSpPr>
        <p:spPr>
          <a:xfrm rot="10800000">
            <a:off x="3436350" y="2457050"/>
            <a:ext cx="12900" cy="14460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58"/>
          <p:cNvCxnSpPr/>
          <p:nvPr/>
        </p:nvCxnSpPr>
        <p:spPr>
          <a:xfrm flipH="1" rot="10800000">
            <a:off x="3436450" y="2459675"/>
            <a:ext cx="266400" cy="39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00" name="Google Shape;800;p58"/>
          <p:cNvSpPr txBox="1"/>
          <p:nvPr/>
        </p:nvSpPr>
        <p:spPr>
          <a:xfrm>
            <a:off x="3185250" y="2192425"/>
            <a:ext cx="23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( </a:t>
            </a:r>
            <a:r>
              <a:rPr lang="ro" sz="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rollback </a:t>
            </a:r>
            <a:r>
              <a:rPr lang="ro" sz="7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806" name="Google Shape;806;p59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7" name="Google Shape;807;p59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8" name="Google Shape;808;p59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9" name="Google Shape;809;p59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0" name="Google Shape;810;p59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1" name="Google Shape;811;p59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2" name="Google Shape;812;p59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noFill/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3" name="Google Shape;813;p59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819" name="Google Shape;819;p60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0" name="Google Shape;820;p60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1" name="Google Shape;821;p60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2" name="Google Shape;822;p60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3" name="Google Shape;823;p60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24" name="Google Shape;824;p60"/>
          <p:cNvCxnSpPr>
            <a:stCxn id="823" idx="3"/>
            <a:endCxn id="819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5" name="Google Shape;825;p60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6" name="Google Shape;826;p60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7" name="Google Shape;827;p60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1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833" name="Google Shape;833;p61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4" name="Google Shape;834;p61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5" name="Google Shape;835;p61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6" name="Google Shape;836;p61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7" name="Google Shape;837;p61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38" name="Google Shape;838;p61"/>
          <p:cNvCxnSpPr>
            <a:stCxn id="837" idx="3"/>
            <a:endCxn id="833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9" name="Google Shape;839;p61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40" name="Google Shape;840;p61"/>
          <p:cNvCxnSpPr>
            <a:stCxn id="839" idx="3"/>
            <a:endCxn id="834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" name="Google Shape;841;p61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2" name="Google Shape;842;p61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3" name="Google Shape;843;p61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849" name="Google Shape;849;p62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0" name="Google Shape;850;p62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1" name="Google Shape;851;p62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2" name="Google Shape;852;p62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3" name="Google Shape;853;p62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4" name="Google Shape;854;p62"/>
          <p:cNvCxnSpPr>
            <a:stCxn id="853" idx="3"/>
            <a:endCxn id="849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5" name="Google Shape;855;p62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6" name="Google Shape;856;p62"/>
          <p:cNvCxnSpPr>
            <a:stCxn id="855" idx="3"/>
            <a:endCxn id="850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7" name="Google Shape;857;p62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8" name="Google Shape;858;p62"/>
          <p:cNvSpPr/>
          <p:nvPr/>
        </p:nvSpPr>
        <p:spPr>
          <a:xfrm>
            <a:off x="1308725" y="35727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// commit transaction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9" name="Google Shape;859;p62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0" name="Google Shape;860;p62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61" name="Google Shape;861;p62"/>
          <p:cNvCxnSpPr/>
          <p:nvPr/>
        </p:nvCxnSpPr>
        <p:spPr>
          <a:xfrm flipH="1" rot="10800000">
            <a:off x="2833325" y="3902750"/>
            <a:ext cx="617100" cy="3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62"/>
          <p:cNvCxnSpPr/>
          <p:nvPr/>
        </p:nvCxnSpPr>
        <p:spPr>
          <a:xfrm rot="10800000">
            <a:off x="3436350" y="2457050"/>
            <a:ext cx="12900" cy="144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62"/>
          <p:cNvCxnSpPr/>
          <p:nvPr/>
        </p:nvCxnSpPr>
        <p:spPr>
          <a:xfrm flipH="1" rot="10800000">
            <a:off x="3436450" y="2459675"/>
            <a:ext cx="266400" cy="3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64" name="Google Shape;864;p62"/>
          <p:cNvSpPr txBox="1"/>
          <p:nvPr/>
        </p:nvSpPr>
        <p:spPr>
          <a:xfrm>
            <a:off x="3006025" y="3687188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63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870" name="Google Shape;870;p63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1" name="Google Shape;871;p63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2" name="Google Shape;872;p63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3" name="Google Shape;873;p63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4" name="Google Shape;874;p63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5" name="Google Shape;875;p63"/>
          <p:cNvCxnSpPr>
            <a:stCxn id="874" idx="3"/>
            <a:endCxn id="870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63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7" name="Google Shape;877;p63"/>
          <p:cNvCxnSpPr>
            <a:stCxn id="876" idx="3"/>
            <a:endCxn id="871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63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9" name="Google Shape;879;p63"/>
          <p:cNvSpPr/>
          <p:nvPr/>
        </p:nvSpPr>
        <p:spPr>
          <a:xfrm>
            <a:off x="1308725" y="35727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// commit transaction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0" name="Google Shape;880;p63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1" name="Google Shape;881;p63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82" name="Google Shape;882;p63"/>
          <p:cNvCxnSpPr/>
          <p:nvPr/>
        </p:nvCxnSpPr>
        <p:spPr>
          <a:xfrm flipH="1" rot="10800000">
            <a:off x="2833325" y="3902750"/>
            <a:ext cx="617100" cy="3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63"/>
          <p:cNvCxnSpPr/>
          <p:nvPr/>
        </p:nvCxnSpPr>
        <p:spPr>
          <a:xfrm rot="10800000">
            <a:off x="3436350" y="2457050"/>
            <a:ext cx="12900" cy="144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63"/>
          <p:cNvCxnSpPr/>
          <p:nvPr/>
        </p:nvCxnSpPr>
        <p:spPr>
          <a:xfrm flipH="1" rot="10800000">
            <a:off x="3436450" y="2459675"/>
            <a:ext cx="266400" cy="3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85" name="Google Shape;885;p63"/>
          <p:cNvSpPr txBox="1"/>
          <p:nvPr/>
        </p:nvSpPr>
        <p:spPr>
          <a:xfrm>
            <a:off x="3006025" y="3687188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4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891" name="Google Shape;891;p64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2" name="Google Shape;892;p64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3" name="Google Shape;893;p64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4" name="Google Shape;894;p64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5" name="Google Shape;895;p64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6" name="Google Shape;896;p64"/>
          <p:cNvCxnSpPr>
            <a:stCxn id="895" idx="3"/>
            <a:endCxn id="891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64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8" name="Google Shape;898;p64"/>
          <p:cNvCxnSpPr>
            <a:stCxn id="897" idx="3"/>
            <a:endCxn id="892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9" name="Google Shape;899;p64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0" name="Google Shape;900;p64"/>
          <p:cNvSpPr/>
          <p:nvPr/>
        </p:nvSpPr>
        <p:spPr>
          <a:xfrm>
            <a:off x="1308725" y="35727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// commit transaction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1" name="Google Shape;901;p64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2" name="Google Shape;902;p64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03" name="Google Shape;903;p64"/>
          <p:cNvCxnSpPr/>
          <p:nvPr/>
        </p:nvCxnSpPr>
        <p:spPr>
          <a:xfrm flipH="1" rot="10800000">
            <a:off x="2833325" y="3902750"/>
            <a:ext cx="617100" cy="33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64"/>
          <p:cNvCxnSpPr/>
          <p:nvPr/>
        </p:nvCxnSpPr>
        <p:spPr>
          <a:xfrm rot="10800000">
            <a:off x="3436350" y="2457050"/>
            <a:ext cx="12900" cy="14460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64"/>
          <p:cNvCxnSpPr/>
          <p:nvPr/>
        </p:nvCxnSpPr>
        <p:spPr>
          <a:xfrm flipH="1" rot="10800000">
            <a:off x="3436450" y="2459675"/>
            <a:ext cx="266400" cy="39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06" name="Google Shape;906;p64"/>
          <p:cNvSpPr txBox="1"/>
          <p:nvPr/>
        </p:nvSpPr>
        <p:spPr>
          <a:xfrm>
            <a:off x="3006025" y="3687188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5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912" name="Google Shape;912;p65"/>
          <p:cNvSpPr/>
          <p:nvPr/>
        </p:nvSpPr>
        <p:spPr>
          <a:xfrm>
            <a:off x="3700750" y="1798950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65"/>
          <p:cNvSpPr/>
          <p:nvPr/>
        </p:nvSpPr>
        <p:spPr>
          <a:xfrm rot="5400000">
            <a:off x="3997864" y="2521550"/>
            <a:ext cx="434475" cy="10947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4" name="Google Shape;914;p65"/>
          <p:cNvSpPr/>
          <p:nvPr/>
        </p:nvSpPr>
        <p:spPr>
          <a:xfrm>
            <a:off x="1075175" y="1520725"/>
            <a:ext cx="1991700" cy="2878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5" name="Google Shape;915;p65"/>
          <p:cNvSpPr txBox="1"/>
          <p:nvPr/>
        </p:nvSpPr>
        <p:spPr>
          <a:xfrm>
            <a:off x="1737975" y="20774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6" name="Google Shape;916;p65"/>
          <p:cNvSpPr/>
          <p:nvPr/>
        </p:nvSpPr>
        <p:spPr>
          <a:xfrm>
            <a:off x="1308875" y="18606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orderRepository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.save(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17" name="Google Shape;917;p65"/>
          <p:cNvCxnSpPr>
            <a:stCxn id="916" idx="3"/>
            <a:endCxn id="912" idx="2"/>
          </p:cNvCxnSpPr>
          <p:nvPr/>
        </p:nvCxnSpPr>
        <p:spPr>
          <a:xfrm flipH="1" rot="10800000">
            <a:off x="2833475" y="2186425"/>
            <a:ext cx="867300" cy="6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65"/>
          <p:cNvSpPr/>
          <p:nvPr/>
        </p:nvSpPr>
        <p:spPr>
          <a:xfrm>
            <a:off x="1308725" y="27400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messagePublisher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.send(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orderCreatedEvt </a:t>
            </a: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19" name="Google Shape;919;p65"/>
          <p:cNvCxnSpPr>
            <a:stCxn id="918" idx="3"/>
            <a:endCxn id="913" idx="3"/>
          </p:cNvCxnSpPr>
          <p:nvPr/>
        </p:nvCxnSpPr>
        <p:spPr>
          <a:xfrm flipH="1" rot="10800000">
            <a:off x="2833325" y="3068800"/>
            <a:ext cx="834300" cy="30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0" name="Google Shape;920;p65"/>
          <p:cNvSpPr txBox="1"/>
          <p:nvPr/>
        </p:nvSpPr>
        <p:spPr>
          <a:xfrm>
            <a:off x="1046325" y="14990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1" name="Google Shape;921;p65"/>
          <p:cNvSpPr/>
          <p:nvPr/>
        </p:nvSpPr>
        <p:spPr>
          <a:xfrm>
            <a:off x="1308725" y="35727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// commit transaction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2" name="Google Shape;922;p65"/>
          <p:cNvSpPr txBox="1"/>
          <p:nvPr/>
        </p:nvSpPr>
        <p:spPr>
          <a:xfrm>
            <a:off x="3022375" y="285171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3" name="Google Shape;923;p65"/>
          <p:cNvSpPr txBox="1"/>
          <p:nvPr/>
        </p:nvSpPr>
        <p:spPr>
          <a:xfrm>
            <a:off x="3022363" y="2006875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24" name="Google Shape;924;p65"/>
          <p:cNvCxnSpPr/>
          <p:nvPr/>
        </p:nvCxnSpPr>
        <p:spPr>
          <a:xfrm flipH="1" rot="10800000">
            <a:off x="2833325" y="3902750"/>
            <a:ext cx="617100" cy="33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65"/>
          <p:cNvCxnSpPr/>
          <p:nvPr/>
        </p:nvCxnSpPr>
        <p:spPr>
          <a:xfrm rot="10800000">
            <a:off x="3436350" y="2457050"/>
            <a:ext cx="12900" cy="14460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65"/>
          <p:cNvCxnSpPr/>
          <p:nvPr/>
        </p:nvCxnSpPr>
        <p:spPr>
          <a:xfrm flipH="1" rot="10800000">
            <a:off x="3436450" y="2459675"/>
            <a:ext cx="266400" cy="39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27" name="Google Shape;927;p65"/>
          <p:cNvSpPr txBox="1"/>
          <p:nvPr/>
        </p:nvSpPr>
        <p:spPr>
          <a:xfrm>
            <a:off x="3006025" y="3687188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8" name="Google Shape;928;p65"/>
          <p:cNvSpPr txBox="1"/>
          <p:nvPr/>
        </p:nvSpPr>
        <p:spPr>
          <a:xfrm>
            <a:off x="3185250" y="2192425"/>
            <a:ext cx="54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( </a:t>
            </a:r>
            <a:r>
              <a:rPr lang="ro" sz="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rollback </a:t>
            </a:r>
            <a:r>
              <a:rPr lang="ro" sz="7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Dual Write Problem</a:t>
            </a:r>
            <a:endParaRPr/>
          </a:p>
        </p:txBody>
      </p:sp>
      <p:sp>
        <p:nvSpPr>
          <p:cNvPr id="934" name="Google Shape;934;p66"/>
          <p:cNvSpPr txBox="1"/>
          <p:nvPr/>
        </p:nvSpPr>
        <p:spPr>
          <a:xfrm>
            <a:off x="573100" y="1475650"/>
            <a:ext cx="7848000" cy="3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The dual write problem occurs when we need  to update two different systems atomically. For instance: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b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DB + Message Broker</a:t>
            </a:r>
            <a:r>
              <a:rPr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(save to DB &amp; publish a message)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b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 Broker + DB</a:t>
            </a:r>
            <a:r>
              <a:rPr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(consume/ack a message &amp; save to DB)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b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DB + HTTP Request</a:t>
            </a:r>
            <a:r>
              <a:rPr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(save to DB &amp; send a HTTP request)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b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Message Broker + Message Broker</a:t>
            </a:r>
            <a:br>
              <a:rPr b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(consume from one broker and publish to another - say Active MQ -&gt; Kafka)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</a:pPr>
            <a:r>
              <a:rPr b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DB + DB</a:t>
            </a:r>
            <a:r>
              <a:rPr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(eg. save to to different databases - say Mongo &amp; Oracle)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… etc.</a:t>
            </a:r>
            <a:endParaRPr i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7"/>
          <p:cNvSpPr txBox="1"/>
          <p:nvPr>
            <p:ph type="title"/>
          </p:nvPr>
        </p:nvSpPr>
        <p:spPr>
          <a:xfrm>
            <a:off x="495000" y="1322275"/>
            <a:ext cx="39708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Patterns</a:t>
            </a:r>
            <a:endParaRPr/>
          </a:p>
        </p:txBody>
      </p:sp>
      <p:sp>
        <p:nvSpPr>
          <p:cNvPr id="940" name="Google Shape;940;p67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✅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</a:t>
            </a:r>
            <a:r>
              <a:rPr lang="ro" sz="1900"/>
              <a:t> Dual Write Problem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🟩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🟩 Inbox Pattern</a:t>
            </a:r>
            <a:endParaRPr sz="19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pic>
        <p:nvPicPr>
          <p:cNvPr id="946" name="Google Shape;94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288" y="1679750"/>
            <a:ext cx="7567425" cy="26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952" name="Google Shape;952;p69"/>
          <p:cNvSpPr/>
          <p:nvPr/>
        </p:nvSpPr>
        <p:spPr>
          <a:xfrm>
            <a:off x="3462900" y="176072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3" name="Google Shape;953;p69"/>
          <p:cNvSpPr/>
          <p:nvPr/>
        </p:nvSpPr>
        <p:spPr>
          <a:xfrm rot="5400000">
            <a:off x="3610613" y="2459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4" name="Google Shape;954;p69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5" name="Google Shape;955;p69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6" name="Google Shape;956;p69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57" name="Google Shape;957;p69"/>
          <p:cNvCxnSpPr>
            <a:stCxn id="956" idx="3"/>
            <a:endCxn id="952" idx="2"/>
          </p:cNvCxnSpPr>
          <p:nvPr/>
        </p:nvCxnSpPr>
        <p:spPr>
          <a:xfrm>
            <a:off x="2568900" y="2148325"/>
            <a:ext cx="8940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69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9" name="Google Shape;959;p69"/>
          <p:cNvSpPr/>
          <p:nvPr/>
        </p:nvSpPr>
        <p:spPr>
          <a:xfrm>
            <a:off x="1044300" y="2719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0" name="Google Shape;960;p69"/>
          <p:cNvCxnSpPr>
            <a:stCxn id="953" idx="3"/>
            <a:endCxn id="959" idx="3"/>
          </p:cNvCxnSpPr>
          <p:nvPr/>
        </p:nvCxnSpPr>
        <p:spPr>
          <a:xfrm rot="10800000">
            <a:off x="2568875" y="3050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61" name="Google Shape;961;p69"/>
          <p:cNvSpPr txBox="1"/>
          <p:nvPr/>
        </p:nvSpPr>
        <p:spPr>
          <a:xfrm>
            <a:off x="3052013" y="2897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2" name="Google Shape;962;p69"/>
          <p:cNvSpPr txBox="1"/>
          <p:nvPr/>
        </p:nvSpPr>
        <p:spPr>
          <a:xfrm>
            <a:off x="3521125" y="205997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968" name="Google Shape;968;p70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9" name="Google Shape;969;p70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0" name="Google Shape;970;p70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1" name="Google Shape;971;p70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2" name="Google Shape;972;p70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73" name="Google Shape;973;p70"/>
          <p:cNvCxnSpPr>
            <a:stCxn id="972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4" name="Google Shape;974;p70"/>
          <p:cNvSpPr/>
          <p:nvPr/>
        </p:nvSpPr>
        <p:spPr>
          <a:xfrm>
            <a:off x="5136325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5" name="Google Shape;975;p70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6" name="Google Shape;976;p70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77" name="Google Shape;977;p70"/>
          <p:cNvCxnSpPr>
            <a:stCxn id="969" idx="3"/>
            <a:endCxn id="976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78" name="Google Shape;978;p70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9" name="Google Shape;979;p70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1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985" name="Google Shape;985;p71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6" name="Google Shape;986;p71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71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8" name="Google Shape;988;p71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9" name="Google Shape;989;p71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90" name="Google Shape;990;p71"/>
          <p:cNvCxnSpPr>
            <a:stCxn id="989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71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92" name="Google Shape;992;p71"/>
          <p:cNvCxnSpPr>
            <a:stCxn id="991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3" name="Google Shape;993;p71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4" name="Google Shape;994;p71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71"/>
          <p:cNvSpPr/>
          <p:nvPr/>
        </p:nvSpPr>
        <p:spPr>
          <a:xfrm>
            <a:off x="5136325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6" name="Google Shape;996;p71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7" name="Google Shape;997;p71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98" name="Google Shape;998;p71"/>
          <p:cNvCxnSpPr>
            <a:stCxn id="986" idx="3"/>
            <a:endCxn id="997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99" name="Google Shape;999;p71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005" name="Google Shape;1005;p72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6" name="Google Shape;1006;p72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7" name="Google Shape;1007;p72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8" name="Google Shape;1008;p72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9" name="Google Shape;1009;p72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0" name="Google Shape;1010;p72"/>
          <p:cNvCxnSpPr>
            <a:stCxn id="1009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72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2" name="Google Shape;1012;p72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3" name="Google Shape;1013;p72"/>
          <p:cNvCxnSpPr>
            <a:stCxn id="1011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4" name="Google Shape;1014;p72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5" name="Google Shape;1015;p72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6" name="Google Shape;1016;p72"/>
          <p:cNvSpPr/>
          <p:nvPr/>
        </p:nvSpPr>
        <p:spPr>
          <a:xfrm>
            <a:off x="5136325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7" name="Google Shape;1017;p72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8" name="Google Shape;1018;p72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9" name="Google Shape;1019;p72"/>
          <p:cNvCxnSpPr>
            <a:stCxn id="1006" idx="3"/>
            <a:endCxn id="1018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0" name="Google Shape;1020;p72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3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026" name="Google Shape;1026;p73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7" name="Google Shape;1027;p73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8" name="Google Shape;1028;p73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9" name="Google Shape;1029;p73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0" name="Google Shape;1030;p73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1" name="Google Shape;1031;p73"/>
          <p:cNvCxnSpPr>
            <a:stCxn id="1030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2" name="Google Shape;1032;p73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3" name="Google Shape;1033;p73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4" name="Google Shape;1034;p73"/>
          <p:cNvCxnSpPr>
            <a:stCxn id="1032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73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6" name="Google Shape;1036;p73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7" name="Google Shape;1037;p73"/>
          <p:cNvSpPr/>
          <p:nvPr/>
        </p:nvSpPr>
        <p:spPr>
          <a:xfrm>
            <a:off x="5136325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8" name="Google Shape;1038;p73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9" name="Google Shape;1039;p73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0" name="Google Shape;1040;p73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41" name="Google Shape;1041;p73"/>
          <p:cNvCxnSpPr>
            <a:stCxn id="1039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42" name="Google Shape;1042;p73"/>
          <p:cNvCxnSpPr>
            <a:stCxn id="1027" idx="3"/>
            <a:endCxn id="1040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43" name="Google Shape;1043;p73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4" name="Google Shape;1044;p73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74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050" name="Google Shape;1050;p74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1" name="Google Shape;1051;p74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2" name="Google Shape;1052;p74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3" name="Google Shape;1053;p74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4" name="Google Shape;1054;p74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55" name="Google Shape;1055;p74"/>
          <p:cNvCxnSpPr>
            <a:stCxn id="1054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6" name="Google Shape;1056;p74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7" name="Google Shape;1057;p74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58" name="Google Shape;1058;p74"/>
          <p:cNvCxnSpPr>
            <a:stCxn id="1056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9" name="Google Shape;1059;p74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0" name="Google Shape;1060;p74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1" name="Google Shape;1061;p74"/>
          <p:cNvSpPr/>
          <p:nvPr/>
        </p:nvSpPr>
        <p:spPr>
          <a:xfrm>
            <a:off x="5136325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2" name="Google Shape;1062;p74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3" name="Google Shape;1063;p74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4" name="Google Shape;1064;p74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65" name="Google Shape;1065;p74"/>
          <p:cNvCxnSpPr>
            <a:stCxn id="1063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6" name="Google Shape;1066;p74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67" name="Google Shape;1067;p74"/>
          <p:cNvCxnSpPr>
            <a:stCxn id="1066" idx="1"/>
          </p:cNvCxnSpPr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8" name="Google Shape;1068;p74"/>
          <p:cNvCxnSpPr>
            <a:stCxn id="1051" idx="3"/>
            <a:endCxn id="1064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69" name="Google Shape;1069;p74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0" name="Google Shape;1070;p74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5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076" name="Google Shape;1076;p75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7" name="Google Shape;1077;p75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8" name="Google Shape;1078;p75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9" name="Google Shape;1079;p75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0" name="Google Shape;1080;p75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1" name="Google Shape;1081;p75"/>
          <p:cNvCxnSpPr>
            <a:stCxn id="1080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75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3" name="Google Shape;1083;p75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4" name="Google Shape;1084;p75"/>
          <p:cNvCxnSpPr>
            <a:stCxn id="1082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5" name="Google Shape;1085;p75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6" name="Google Shape;1086;p75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7" name="Google Shape;1087;p75"/>
          <p:cNvSpPr/>
          <p:nvPr/>
        </p:nvSpPr>
        <p:spPr>
          <a:xfrm>
            <a:off x="5136325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8" name="Google Shape;1088;p75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9" name="Google Shape;1089;p75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0" name="Google Shape;1090;p75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91" name="Google Shape;1091;p75"/>
          <p:cNvCxnSpPr>
            <a:stCxn id="1089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92" name="Google Shape;1092;p75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93" name="Google Shape;1093;p75"/>
          <p:cNvCxnSpPr>
            <a:stCxn id="1092" idx="1"/>
          </p:cNvCxnSpPr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4" name="Google Shape;1094;p75"/>
          <p:cNvCxnSpPr>
            <a:stCxn id="1077" idx="3"/>
            <a:endCxn id="1090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95" name="Google Shape;1095;p75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6" name="Google Shape;1096;p75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7" name="Google Shape;1097;p75"/>
          <p:cNvSpPr txBox="1"/>
          <p:nvPr/>
        </p:nvSpPr>
        <p:spPr>
          <a:xfrm>
            <a:off x="7086250" y="3468763"/>
            <a:ext cx="41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103" name="Google Shape;1103;p76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4" name="Google Shape;1104;p76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5" name="Google Shape;1105;p76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6" name="Google Shape;1106;p76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7" name="Google Shape;1107;p76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08" name="Google Shape;1108;p76"/>
          <p:cNvCxnSpPr>
            <a:stCxn id="1107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76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0" name="Google Shape;1110;p76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11" name="Google Shape;1111;p76"/>
          <p:cNvCxnSpPr>
            <a:stCxn id="1109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76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3" name="Google Shape;1113;p76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4" name="Google Shape;1114;p76"/>
          <p:cNvSpPr/>
          <p:nvPr/>
        </p:nvSpPr>
        <p:spPr>
          <a:xfrm>
            <a:off x="5136400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5" name="Google Shape;1115;p76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6" name="Google Shape;1116;p76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7" name="Google Shape;1117;p76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18" name="Google Shape;1118;p76"/>
          <p:cNvCxnSpPr>
            <a:stCxn id="1116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9" name="Google Shape;1119;p76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20" name="Google Shape;1120;p76"/>
          <p:cNvCxnSpPr>
            <a:stCxn id="1119" idx="1"/>
          </p:cNvCxnSpPr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76"/>
          <p:cNvCxnSpPr>
            <a:stCxn id="1104" idx="3"/>
            <a:endCxn id="1117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22" name="Google Shape;1122;p76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3" name="Google Shape;1123;p76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4" name="Google Shape;1124;p76"/>
          <p:cNvSpPr txBox="1"/>
          <p:nvPr/>
        </p:nvSpPr>
        <p:spPr>
          <a:xfrm rot="-1626355">
            <a:off x="5037571" y="4151600"/>
            <a:ext cx="412170" cy="434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5" name="Google Shape;1125;p76"/>
          <p:cNvSpPr txBox="1"/>
          <p:nvPr/>
        </p:nvSpPr>
        <p:spPr>
          <a:xfrm>
            <a:off x="7063363" y="3487900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7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131" name="Google Shape;1131;p77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2" name="Google Shape;1132;p77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3" name="Google Shape;1133;p77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4" name="Google Shape;1134;p77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5" name="Google Shape;1135;p77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36" name="Google Shape;1136;p77"/>
          <p:cNvCxnSpPr>
            <a:stCxn id="1135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7" name="Google Shape;1137;p77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8" name="Google Shape;1138;p77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39" name="Google Shape;1139;p77"/>
          <p:cNvCxnSpPr>
            <a:stCxn id="1137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0" name="Google Shape;1140;p77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1" name="Google Shape;1141;p77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2" name="Google Shape;1142;p77"/>
          <p:cNvSpPr/>
          <p:nvPr/>
        </p:nvSpPr>
        <p:spPr>
          <a:xfrm>
            <a:off x="5136400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3" name="Google Shape;1143;p77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4" name="Google Shape;1144;p77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5" name="Google Shape;1145;p77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6" name="Google Shape;1146;p77"/>
          <p:cNvCxnSpPr>
            <a:stCxn id="1144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47" name="Google Shape;1147;p77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8" name="Google Shape;1148;p77"/>
          <p:cNvCxnSpPr>
            <a:stCxn id="1147" idx="1"/>
          </p:cNvCxnSpPr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9" name="Google Shape;1149;p77"/>
          <p:cNvCxnSpPr>
            <a:stCxn id="1132" idx="3"/>
            <a:endCxn id="1145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50" name="Google Shape;1150;p77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1" name="Google Shape;1151;p77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2" name="Google Shape;1152;p77"/>
          <p:cNvSpPr txBox="1"/>
          <p:nvPr/>
        </p:nvSpPr>
        <p:spPr>
          <a:xfrm rot="-1626355">
            <a:off x="5037571" y="4151600"/>
            <a:ext cx="412170" cy="434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3" name="Google Shape;1153;p77"/>
          <p:cNvSpPr txBox="1"/>
          <p:nvPr/>
        </p:nvSpPr>
        <p:spPr>
          <a:xfrm>
            <a:off x="7063363" y="3487900"/>
            <a:ext cx="3795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159" name="Google Shape;1159;p78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0" name="Google Shape;1160;p78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1" name="Google Shape;1161;p78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2" name="Google Shape;1162;p78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3" name="Google Shape;1163;p78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4" name="Google Shape;1164;p78"/>
          <p:cNvCxnSpPr>
            <a:stCxn id="1163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5" name="Google Shape;1165;p78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6" name="Google Shape;1166;p78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7" name="Google Shape;1167;p78"/>
          <p:cNvCxnSpPr>
            <a:stCxn id="1165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8" name="Google Shape;1168;p78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9" name="Google Shape;1169;p78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0" name="Google Shape;1170;p78"/>
          <p:cNvSpPr/>
          <p:nvPr/>
        </p:nvSpPr>
        <p:spPr>
          <a:xfrm>
            <a:off x="5136400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1" name="Google Shape;1171;p78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2" name="Google Shape;1172;p78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3" name="Google Shape;1173;p78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74" name="Google Shape;1174;p78"/>
          <p:cNvCxnSpPr>
            <a:stCxn id="1172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75" name="Google Shape;1175;p78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76" name="Google Shape;1176;p78"/>
          <p:cNvCxnSpPr>
            <a:stCxn id="1175" idx="1"/>
          </p:cNvCxnSpPr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78"/>
          <p:cNvCxnSpPr>
            <a:stCxn id="1160" idx="3"/>
            <a:endCxn id="1173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78" name="Google Shape;1178;p78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9" name="Google Shape;1179;p78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0" name="Google Shape;1180;p78"/>
          <p:cNvSpPr txBox="1"/>
          <p:nvPr/>
        </p:nvSpPr>
        <p:spPr>
          <a:xfrm rot="-1626355">
            <a:off x="5037571" y="4151600"/>
            <a:ext cx="412170" cy="434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1" name="Google Shape;1181;p78"/>
          <p:cNvSpPr txBox="1"/>
          <p:nvPr/>
        </p:nvSpPr>
        <p:spPr>
          <a:xfrm>
            <a:off x="6658725" y="3500425"/>
            <a:ext cx="10770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✅✅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187" name="Google Shape;1187;p79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8" name="Google Shape;1188;p79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9" name="Google Shape;1189;p79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0" name="Google Shape;1190;p79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1" name="Google Shape;1191;p79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2" name="Google Shape;1192;p79"/>
          <p:cNvCxnSpPr>
            <a:stCxn id="1191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3" name="Google Shape;1193;p79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4" name="Google Shape;1194;p79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5" name="Google Shape;1195;p79"/>
          <p:cNvCxnSpPr>
            <a:stCxn id="1193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6" name="Google Shape;1196;p79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7" name="Google Shape;1197;p79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8" name="Google Shape;1198;p79"/>
          <p:cNvSpPr/>
          <p:nvPr/>
        </p:nvSpPr>
        <p:spPr>
          <a:xfrm>
            <a:off x="5136400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9" name="Google Shape;1199;p79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0" name="Google Shape;1200;p79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1" name="Google Shape;1201;p79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2" name="Google Shape;1202;p79"/>
          <p:cNvCxnSpPr>
            <a:stCxn id="1200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3" name="Google Shape;1203;p79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4" name="Google Shape;1204;p79"/>
          <p:cNvCxnSpPr>
            <a:stCxn id="1188" idx="3"/>
            <a:endCxn id="1201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5" name="Google Shape;1205;p79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6" name="Google Shape;1206;p79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7" name="Google Shape;1207;p79"/>
          <p:cNvSpPr txBox="1"/>
          <p:nvPr/>
        </p:nvSpPr>
        <p:spPr>
          <a:xfrm rot="-1626355">
            <a:off x="5037571" y="4151600"/>
            <a:ext cx="412170" cy="434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8" name="Google Shape;1208;p79"/>
          <p:cNvSpPr txBox="1"/>
          <p:nvPr/>
        </p:nvSpPr>
        <p:spPr>
          <a:xfrm>
            <a:off x="6658725" y="3500425"/>
            <a:ext cx="10770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✅✅</a:t>
            </a:r>
            <a:endParaRPr/>
          </a:p>
        </p:txBody>
      </p:sp>
      <p:sp>
        <p:nvSpPr>
          <p:cNvPr id="1209" name="Google Shape;1209;p79"/>
          <p:cNvSpPr/>
          <p:nvPr/>
        </p:nvSpPr>
        <p:spPr>
          <a:xfrm>
            <a:off x="7213650" y="2551375"/>
            <a:ext cx="1682700" cy="720600"/>
          </a:xfrm>
          <a:prstGeom prst="wedgeRectCallout">
            <a:avLst>
              <a:gd fmla="val -42835" name="adj1"/>
              <a:gd fmla="val 96830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{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      “idempotencyKey”: uuid,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      “observedAt”:  … 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}</a:t>
            </a:r>
            <a:endParaRPr i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0" name="Google Shape;1210;p79"/>
          <p:cNvSpPr txBox="1"/>
          <p:nvPr/>
        </p:nvSpPr>
        <p:spPr>
          <a:xfrm>
            <a:off x="7312000" y="2260425"/>
            <a:ext cx="12171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1" name="Google Shape;1211;p79"/>
          <p:cNvCxnSpPr/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79"/>
          <p:cNvSpPr/>
          <p:nvPr/>
        </p:nvSpPr>
        <p:spPr>
          <a:xfrm>
            <a:off x="2695650" y="3646850"/>
            <a:ext cx="1602600" cy="610500"/>
          </a:xfrm>
          <a:prstGeom prst="wedgeRectCallout">
            <a:avLst>
              <a:gd fmla="val 18598" name="adj1"/>
              <a:gd fmla="val -184017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idempotency_key = uuid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 observed_at =  … (instant)</a:t>
            </a:r>
            <a:endParaRPr i="1"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Outbox Pattern</a:t>
            </a:r>
            <a:endParaRPr/>
          </a:p>
        </p:txBody>
      </p:sp>
      <p:sp>
        <p:nvSpPr>
          <p:cNvPr id="1218" name="Google Shape;1218;p80"/>
          <p:cNvSpPr/>
          <p:nvPr/>
        </p:nvSpPr>
        <p:spPr>
          <a:xfrm>
            <a:off x="3464700" y="21283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9" name="Google Shape;1219;p80"/>
          <p:cNvSpPr/>
          <p:nvPr/>
        </p:nvSpPr>
        <p:spPr>
          <a:xfrm rot="5400000">
            <a:off x="7936188" y="309478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80"/>
          <p:cNvSpPr/>
          <p:nvPr/>
        </p:nvSpPr>
        <p:spPr>
          <a:xfrm>
            <a:off x="810600" y="1476625"/>
            <a:ext cx="1991700" cy="207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1" name="Google Shape;1221;p80"/>
          <p:cNvSpPr txBox="1"/>
          <p:nvPr/>
        </p:nvSpPr>
        <p:spPr>
          <a:xfrm>
            <a:off x="1473400" y="20333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2" name="Google Shape;1222;p80"/>
          <p:cNvSpPr/>
          <p:nvPr/>
        </p:nvSpPr>
        <p:spPr>
          <a:xfrm>
            <a:off x="1044300" y="1816525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orderEntity 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order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3" name="Google Shape;1223;p80"/>
          <p:cNvCxnSpPr>
            <a:stCxn id="1222" idx="3"/>
          </p:cNvCxnSpPr>
          <p:nvPr/>
        </p:nvCxnSpPr>
        <p:spPr>
          <a:xfrm>
            <a:off x="2568900" y="2148325"/>
            <a:ext cx="894000" cy="309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4" name="Google Shape;1224;p80"/>
          <p:cNvSpPr/>
          <p:nvPr/>
        </p:nvSpPr>
        <p:spPr>
          <a:xfrm>
            <a:off x="1044150" y="269590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</a:t>
            </a:r>
            <a:r>
              <a:rPr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orderCreatedEvent</a:t>
            </a:r>
            <a:b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an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5" name="Google Shape;1225;p80"/>
          <p:cNvSpPr txBox="1"/>
          <p:nvPr/>
        </p:nvSpPr>
        <p:spPr>
          <a:xfrm>
            <a:off x="781750" y="1454950"/>
            <a:ext cx="1307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6" name="Google Shape;1226;p80"/>
          <p:cNvCxnSpPr>
            <a:stCxn id="1224" idx="3"/>
          </p:cNvCxnSpPr>
          <p:nvPr/>
        </p:nvCxnSpPr>
        <p:spPr>
          <a:xfrm flipH="1" rot="10800000">
            <a:off x="2568750" y="2757400"/>
            <a:ext cx="887400" cy="270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80"/>
          <p:cNvSpPr txBox="1"/>
          <p:nvPr/>
        </p:nvSpPr>
        <p:spPr>
          <a:xfrm>
            <a:off x="3522925" y="2427625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8" name="Google Shape;1228;p80"/>
          <p:cNvSpPr txBox="1"/>
          <p:nvPr/>
        </p:nvSpPr>
        <p:spPr>
          <a:xfrm>
            <a:off x="3522925" y="266865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9" name="Google Shape;1229;p80"/>
          <p:cNvSpPr/>
          <p:nvPr/>
        </p:nvSpPr>
        <p:spPr>
          <a:xfrm>
            <a:off x="5136400" y="2222950"/>
            <a:ext cx="1991700" cy="271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0" name="Google Shape;1230;p80"/>
          <p:cNvSpPr txBox="1"/>
          <p:nvPr/>
        </p:nvSpPr>
        <p:spPr>
          <a:xfrm>
            <a:off x="5799050" y="28299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1" name="Google Shape;1231;p80"/>
          <p:cNvSpPr/>
          <p:nvPr/>
        </p:nvSpPr>
        <p:spPr>
          <a:xfrm>
            <a:off x="5369950" y="25568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unpublished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outbox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2" name="Google Shape;1232;p80"/>
          <p:cNvSpPr/>
          <p:nvPr/>
        </p:nvSpPr>
        <p:spPr>
          <a:xfrm>
            <a:off x="5369875" y="33541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publish the event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33" name="Google Shape;1233;p80"/>
          <p:cNvCxnSpPr>
            <a:stCxn id="1231" idx="1"/>
          </p:cNvCxnSpPr>
          <p:nvPr/>
        </p:nvCxnSpPr>
        <p:spPr>
          <a:xfrm rot="10800000">
            <a:off x="4098850" y="2736250"/>
            <a:ext cx="1271100" cy="1524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34" name="Google Shape;1234;p80"/>
          <p:cNvSpPr/>
          <p:nvPr/>
        </p:nvSpPr>
        <p:spPr>
          <a:xfrm>
            <a:off x="5369950" y="415150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outbox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published 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35" name="Google Shape;1235;p80"/>
          <p:cNvCxnSpPr>
            <a:stCxn id="1234" idx="1"/>
          </p:cNvCxnSpPr>
          <p:nvPr/>
        </p:nvCxnSpPr>
        <p:spPr>
          <a:xfrm rot="10800000">
            <a:off x="4040350" y="2863600"/>
            <a:ext cx="1329600" cy="16197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80"/>
          <p:cNvCxnSpPr>
            <a:stCxn id="1219" idx="3"/>
            <a:endCxn id="1232" idx="3"/>
          </p:cNvCxnSpPr>
          <p:nvPr/>
        </p:nvCxnSpPr>
        <p:spPr>
          <a:xfrm rot="10800000">
            <a:off x="6894450" y="3685963"/>
            <a:ext cx="667800" cy="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37" name="Google Shape;1237;p80"/>
          <p:cNvSpPr txBox="1"/>
          <p:nvPr/>
        </p:nvSpPr>
        <p:spPr>
          <a:xfrm>
            <a:off x="7377588" y="353207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8" name="Google Shape;1238;p80"/>
          <p:cNvSpPr txBox="1"/>
          <p:nvPr/>
        </p:nvSpPr>
        <p:spPr>
          <a:xfrm>
            <a:off x="5136325" y="2222950"/>
            <a:ext cx="183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9" name="Google Shape;1239;p80"/>
          <p:cNvSpPr txBox="1"/>
          <p:nvPr/>
        </p:nvSpPr>
        <p:spPr>
          <a:xfrm rot="-1626355">
            <a:off x="5037571" y="4151600"/>
            <a:ext cx="412170" cy="434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❌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0" name="Google Shape;1240;p80"/>
          <p:cNvSpPr txBox="1"/>
          <p:nvPr/>
        </p:nvSpPr>
        <p:spPr>
          <a:xfrm>
            <a:off x="6658725" y="3500425"/>
            <a:ext cx="10770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✅✅</a:t>
            </a:r>
            <a:endParaRPr/>
          </a:p>
        </p:txBody>
      </p:sp>
      <p:sp>
        <p:nvSpPr>
          <p:cNvPr id="1241" name="Google Shape;1241;p80"/>
          <p:cNvSpPr txBox="1"/>
          <p:nvPr>
            <p:ph idx="1" type="body"/>
          </p:nvPr>
        </p:nvSpPr>
        <p:spPr>
          <a:xfrm>
            <a:off x="209600" y="3869075"/>
            <a:ext cx="3655800" cy="12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Can add extra latency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Can result in duplicate messages</a:t>
            </a:r>
            <a:endParaRPr sz="1600"/>
          </a:p>
        </p:txBody>
      </p:sp>
      <p:sp>
        <p:nvSpPr>
          <p:cNvPr id="1242" name="Google Shape;1242;p80"/>
          <p:cNvSpPr txBox="1"/>
          <p:nvPr>
            <p:ph idx="1" type="body"/>
          </p:nvPr>
        </p:nvSpPr>
        <p:spPr>
          <a:xfrm>
            <a:off x="5369950" y="852725"/>
            <a:ext cx="2748900" cy="10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Eventual Consistency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Least once delivery)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43" name="Google Shape;1243;p80"/>
          <p:cNvSpPr/>
          <p:nvPr/>
        </p:nvSpPr>
        <p:spPr>
          <a:xfrm>
            <a:off x="2695650" y="3646850"/>
            <a:ext cx="1602600" cy="610500"/>
          </a:xfrm>
          <a:prstGeom prst="wedgeRectCallout">
            <a:avLst>
              <a:gd fmla="val 18598" name="adj1"/>
              <a:gd fmla="val -184017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idempotency_key = uuid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 observed_at =  … (instant)</a:t>
            </a:r>
            <a:endParaRPr i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4" name="Google Shape;1244;p80"/>
          <p:cNvSpPr/>
          <p:nvPr/>
        </p:nvSpPr>
        <p:spPr>
          <a:xfrm>
            <a:off x="7213650" y="2551375"/>
            <a:ext cx="1682700" cy="720600"/>
          </a:xfrm>
          <a:prstGeom prst="wedgeRectCallout">
            <a:avLst>
              <a:gd fmla="val -42835" name="adj1"/>
              <a:gd fmla="val 96830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{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      “idempotencyKey”: uuid,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      “observedAt”:  … 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}</a:t>
            </a:r>
            <a:endParaRPr i="1"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5" name="Google Shape;1245;p80"/>
          <p:cNvSpPr txBox="1"/>
          <p:nvPr/>
        </p:nvSpPr>
        <p:spPr>
          <a:xfrm>
            <a:off x="7312000" y="2260425"/>
            <a:ext cx="12171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10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1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✅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Dual Write Problem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🟩 Inbox Pattern</a:t>
            </a:r>
            <a:endParaRPr sz="1900"/>
          </a:p>
        </p:txBody>
      </p:sp>
      <p:sp>
        <p:nvSpPr>
          <p:cNvPr id="1251" name="Google Shape;1251;p81"/>
          <p:cNvSpPr txBox="1"/>
          <p:nvPr>
            <p:ph type="title"/>
          </p:nvPr>
        </p:nvSpPr>
        <p:spPr>
          <a:xfrm>
            <a:off x="495000" y="1322275"/>
            <a:ext cx="42753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Patterns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82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257" name="Google Shape;1257;p82"/>
          <p:cNvSpPr/>
          <p:nvPr/>
        </p:nvSpPr>
        <p:spPr>
          <a:xfrm rot="5400000">
            <a:off x="2369575" y="2508713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8" name="Google Shape;1258;p82"/>
          <p:cNvSpPr/>
          <p:nvPr/>
        </p:nvSpPr>
        <p:spPr>
          <a:xfrm>
            <a:off x="5161125" y="143407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9" name="Google Shape;1259;p82"/>
          <p:cNvSpPr txBox="1"/>
          <p:nvPr/>
        </p:nvSpPr>
        <p:spPr>
          <a:xfrm>
            <a:off x="5823763" y="225155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0" name="Google Shape;1260;p82"/>
          <p:cNvSpPr/>
          <p:nvPr/>
        </p:nvSpPr>
        <p:spPr>
          <a:xfrm>
            <a:off x="5394588" y="27758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1" name="Google Shape;1261;p82"/>
          <p:cNvSpPr txBox="1"/>
          <p:nvPr/>
        </p:nvSpPr>
        <p:spPr>
          <a:xfrm>
            <a:off x="1810975" y="2946000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62" name="Google Shape;1262;p82"/>
          <p:cNvCxnSpPr>
            <a:stCxn id="1257" idx="1"/>
            <a:endCxn id="1260" idx="1"/>
          </p:cNvCxnSpPr>
          <p:nvPr/>
        </p:nvCxnSpPr>
        <p:spPr>
          <a:xfrm>
            <a:off x="3177988" y="3099888"/>
            <a:ext cx="2216700" cy="78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82"/>
          <p:cNvSpPr txBox="1"/>
          <p:nvPr/>
        </p:nvSpPr>
        <p:spPr>
          <a:xfrm>
            <a:off x="3234200" y="2885388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83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269" name="Google Shape;1269;p83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0" name="Google Shape;1270;p83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1" name="Google Shape;1271;p83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2" name="Google Shape;1272;p83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3" name="Google Shape;1273;p83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84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9" name="Google Shape;1279;p84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280" name="Google Shape;1280;p84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1" name="Google Shape;1281;p84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2" name="Google Shape;1282;p84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3" name="Google Shape;1283;p84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4" name="Google Shape;1284;p84"/>
          <p:cNvCxnSpPr>
            <a:stCxn id="1283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5" name="Google Shape;1285;p84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6" name="Google Shape;1286;p84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7" name="Google Shape;1287;p84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8" name="Google Shape;1288;p84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9" name="Google Shape;1289;p84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90" name="Google Shape;1290;p84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1" name="Google Shape;1291;p84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85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297" name="Google Shape;1297;p85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8" name="Google Shape;1298;p85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9" name="Google Shape;1299;p85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0" name="Google Shape;1300;p85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1" name="Google Shape;1301;p85"/>
          <p:cNvCxnSpPr>
            <a:stCxn id="1300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2" name="Google Shape;1302;p85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3" name="Google Shape;1303;p85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4" name="Google Shape;1304;p85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5" name="Google Shape;1305;p85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6" name="Google Shape;1306;p85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7" name="Google Shape;1307;p85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8" name="Google Shape;1308;p85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9" name="Google Shape;1309;p85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10" name="Google Shape;1310;p85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1" name="Google Shape;1311;p85"/>
          <p:cNvCxnSpPr>
            <a:stCxn id="1297" idx="4"/>
            <a:endCxn id="1305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85"/>
          <p:cNvCxnSpPr/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3" name="Google Shape;1313;p85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4" name="Google Shape;1314;p85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86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320" name="Google Shape;1320;p86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1" name="Google Shape;1321;p86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2" name="Google Shape;1322;p86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3" name="Google Shape;1323;p86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24" name="Google Shape;1324;p86"/>
          <p:cNvCxnSpPr>
            <a:stCxn id="1323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5" name="Google Shape;1325;p86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6" name="Google Shape;1326;p86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7" name="Google Shape;1327;p86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8" name="Google Shape;1328;p86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9" name="Google Shape;1329;p86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0" name="Google Shape;1330;p86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1" name="Google Shape;1331;p86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2" name="Google Shape;1332;p86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33" name="Google Shape;1333;p86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4" name="Google Shape;1334;p86"/>
          <p:cNvCxnSpPr>
            <a:stCxn id="1320" idx="4"/>
            <a:endCxn id="1328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86"/>
          <p:cNvCxnSpPr>
            <a:stCxn id="1330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6" name="Google Shape;1336;p86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7" name="Google Shape;1337;p86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7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343" name="Google Shape;1343;p87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4" name="Google Shape;1344;p87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5" name="Google Shape;1345;p87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6" name="Google Shape;1346;p87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7" name="Google Shape;1347;p87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8" name="Google Shape;1348;p87"/>
          <p:cNvCxnSpPr>
            <a:stCxn id="1347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9" name="Google Shape;1349;p87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0" name="Google Shape;1350;p87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1" name="Google Shape;1351;p87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2" name="Google Shape;1352;p87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3" name="Google Shape;1353;p87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4" name="Google Shape;1354;p87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5" name="Google Shape;1355;p87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6" name="Google Shape;1356;p87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7" name="Google Shape;1357;p87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87"/>
          <p:cNvCxnSpPr>
            <a:stCxn id="1343" idx="4"/>
            <a:endCxn id="1352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9" name="Google Shape;1359;p87"/>
          <p:cNvCxnSpPr>
            <a:stCxn id="1354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0" name="Google Shape;1360;p87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1" name="Google Shape;1361;p87"/>
          <p:cNvSpPr/>
          <p:nvPr/>
        </p:nvSpPr>
        <p:spPr>
          <a:xfrm>
            <a:off x="1010475" y="1829525"/>
            <a:ext cx="1377300" cy="499800"/>
          </a:xfrm>
          <a:prstGeom prst="wedgeRectCallout">
            <a:avLst>
              <a:gd fmla="val 30099" name="adj1"/>
              <a:gd fmla="val 109344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{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idempotencyKey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”: abc-123…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observedAt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”:  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1757265210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}</a:t>
            </a:r>
            <a:endParaRPr i="1"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2" name="Google Shape;1362;p87"/>
          <p:cNvSpPr txBox="1"/>
          <p:nvPr/>
        </p:nvSpPr>
        <p:spPr>
          <a:xfrm>
            <a:off x="1090050" y="1578550"/>
            <a:ext cx="887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6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8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368" name="Google Shape;1368;p88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9" name="Google Shape;1369;p88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0" name="Google Shape;1370;p88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1" name="Google Shape;1371;p88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2" name="Google Shape;1372;p88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3" name="Google Shape;1373;p88"/>
          <p:cNvCxnSpPr>
            <a:stCxn id="1372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88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5" name="Google Shape;1375;p88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6" name="Google Shape;1376;p88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7" name="Google Shape;1377;p88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8" name="Google Shape;1378;p88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9" name="Google Shape;1379;p88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0" name="Google Shape;1380;p88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1" name="Google Shape;1381;p88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82" name="Google Shape;1382;p88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3" name="Google Shape;1383;p88"/>
          <p:cNvCxnSpPr>
            <a:stCxn id="1368" idx="4"/>
            <a:endCxn id="1377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4" name="Google Shape;1384;p88"/>
          <p:cNvCxnSpPr>
            <a:stCxn id="1379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5" name="Google Shape;1385;p88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6" name="Google Shape;1386;p88"/>
          <p:cNvSpPr/>
          <p:nvPr/>
        </p:nvSpPr>
        <p:spPr>
          <a:xfrm>
            <a:off x="1010475" y="1829525"/>
            <a:ext cx="1377300" cy="499800"/>
          </a:xfrm>
          <a:prstGeom prst="wedgeRectCallout">
            <a:avLst>
              <a:gd fmla="val 30099" name="adj1"/>
              <a:gd fmla="val 109344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{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“idempotencyKey”: abc-123…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“observedAt”:  1757265210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}</a:t>
            </a:r>
            <a:endParaRPr i="1"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7" name="Google Shape;1387;p88"/>
          <p:cNvSpPr txBox="1"/>
          <p:nvPr/>
        </p:nvSpPr>
        <p:spPr>
          <a:xfrm>
            <a:off x="1090050" y="1578550"/>
            <a:ext cx="887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6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8" name="Google Shape;1388;p88"/>
          <p:cNvSpPr/>
          <p:nvPr/>
        </p:nvSpPr>
        <p:spPr>
          <a:xfrm>
            <a:off x="4398700" y="1668900"/>
            <a:ext cx="936000" cy="499800"/>
          </a:xfrm>
          <a:prstGeom prst="wedgeRectCallout">
            <a:avLst>
              <a:gd fmla="val 22027" name="adj1"/>
              <a:gd fmla="val 76486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unique constraint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ro" sz="700">
                <a:latin typeface="Lato"/>
                <a:ea typeface="Lato"/>
                <a:cs typeface="Lato"/>
                <a:sym typeface="Lato"/>
              </a:rPr>
              <a:t>idempotency_key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9" name="Google Shape;1389;p88"/>
          <p:cNvSpPr/>
          <p:nvPr/>
        </p:nvSpPr>
        <p:spPr>
          <a:xfrm>
            <a:off x="2192450" y="1492600"/>
            <a:ext cx="2206216" cy="410928"/>
          </a:xfrm>
          <a:custGeom>
            <a:rect b="b" l="l" r="r" t="t"/>
            <a:pathLst>
              <a:path extrusionOk="0" h="16370" w="92952">
                <a:moveTo>
                  <a:pt x="0" y="16370"/>
                </a:moveTo>
                <a:cubicBezTo>
                  <a:pt x="4675" y="3891"/>
                  <a:pt x="23146" y="0"/>
                  <a:pt x="36472" y="0"/>
                </a:cubicBezTo>
                <a:cubicBezTo>
                  <a:pt x="55921" y="0"/>
                  <a:pt x="77602" y="2702"/>
                  <a:pt x="92952" y="14647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89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395" name="Google Shape;1395;p89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6" name="Google Shape;1396;p89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7" name="Google Shape;1397;p89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8" name="Google Shape;1398;p89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9" name="Google Shape;1399;p89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0" name="Google Shape;1400;p89"/>
          <p:cNvCxnSpPr>
            <a:stCxn id="1399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1" name="Google Shape;1401;p89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2" name="Google Shape;1402;p89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3" name="Google Shape;1403;p89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4" name="Google Shape;1404;p89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5" name="Google Shape;1405;p89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6" name="Google Shape;1406;p89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7" name="Google Shape;1407;p89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8" name="Google Shape;1408;p89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9" name="Google Shape;1409;p89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89"/>
          <p:cNvCxnSpPr>
            <a:stCxn id="1395" idx="4"/>
            <a:endCxn id="1404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89"/>
          <p:cNvCxnSpPr>
            <a:stCxn id="1406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2" name="Google Shape;1412;p89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3" name="Google Shape;1413;p89"/>
          <p:cNvSpPr txBox="1"/>
          <p:nvPr/>
        </p:nvSpPr>
        <p:spPr>
          <a:xfrm>
            <a:off x="871550" y="3659275"/>
            <a:ext cx="3749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 Handle duplicate messages </a:t>
            </a:r>
            <a:b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(via idempotency_key)</a:t>
            </a:r>
            <a:endParaRPr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4" name="Google Shape;1414;p89"/>
          <p:cNvSpPr/>
          <p:nvPr/>
        </p:nvSpPr>
        <p:spPr>
          <a:xfrm>
            <a:off x="1010475" y="1829525"/>
            <a:ext cx="1377300" cy="499800"/>
          </a:xfrm>
          <a:prstGeom prst="wedgeRectCallout">
            <a:avLst>
              <a:gd fmla="val 30099" name="adj1"/>
              <a:gd fmla="val 109344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{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“idempotencyKey”: abc-123…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“observedAt”:  1757265210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}</a:t>
            </a:r>
            <a:endParaRPr i="1"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5" name="Google Shape;1415;p89"/>
          <p:cNvSpPr txBox="1"/>
          <p:nvPr/>
        </p:nvSpPr>
        <p:spPr>
          <a:xfrm>
            <a:off x="1090050" y="1578550"/>
            <a:ext cx="887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6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6" name="Google Shape;1416;p89"/>
          <p:cNvSpPr/>
          <p:nvPr/>
        </p:nvSpPr>
        <p:spPr>
          <a:xfrm>
            <a:off x="4398700" y="1668900"/>
            <a:ext cx="936000" cy="499800"/>
          </a:xfrm>
          <a:prstGeom prst="wedgeRectCallout">
            <a:avLst>
              <a:gd fmla="val 22027" name="adj1"/>
              <a:gd fmla="val 76486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unique constraint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ro" sz="700">
                <a:latin typeface="Lato"/>
                <a:ea typeface="Lato"/>
                <a:cs typeface="Lato"/>
                <a:sym typeface="Lato"/>
              </a:rPr>
              <a:t>idempotency_key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7" name="Google Shape;1417;p89"/>
          <p:cNvSpPr/>
          <p:nvPr/>
        </p:nvSpPr>
        <p:spPr>
          <a:xfrm>
            <a:off x="2192450" y="1492600"/>
            <a:ext cx="2206216" cy="410928"/>
          </a:xfrm>
          <a:custGeom>
            <a:rect b="b" l="l" r="r" t="t"/>
            <a:pathLst>
              <a:path extrusionOk="0" h="16370" w="92952">
                <a:moveTo>
                  <a:pt x="0" y="16370"/>
                </a:moveTo>
                <a:cubicBezTo>
                  <a:pt x="4675" y="3891"/>
                  <a:pt x="23146" y="0"/>
                  <a:pt x="36472" y="0"/>
                </a:cubicBezTo>
                <a:cubicBezTo>
                  <a:pt x="55921" y="0"/>
                  <a:pt x="77602" y="2702"/>
                  <a:pt x="92952" y="14647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90"/>
          <p:cNvSpPr txBox="1"/>
          <p:nvPr>
            <p:ph type="title"/>
          </p:nvPr>
        </p:nvSpPr>
        <p:spPr>
          <a:xfrm>
            <a:off x="687425" y="58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423" name="Google Shape;1423;p90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4" name="Google Shape;1424;p90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5" name="Google Shape;1425;p90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6" name="Google Shape;1426;p90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7" name="Google Shape;1427;p90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28" name="Google Shape;1428;p90"/>
          <p:cNvCxnSpPr>
            <a:stCxn id="1427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9" name="Google Shape;1429;p90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0" name="Google Shape;1430;p90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1" name="Google Shape;1431;p90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2" name="Google Shape;1432;p90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3" name="Google Shape;1433;p90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4" name="Google Shape;1434;p90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5" name="Google Shape;1435;p90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6" name="Google Shape;1436;p90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37" name="Google Shape;1437;p90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8" name="Google Shape;1438;p90"/>
          <p:cNvCxnSpPr>
            <a:stCxn id="1423" idx="4"/>
            <a:endCxn id="1432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9" name="Google Shape;1439;p90"/>
          <p:cNvCxnSpPr>
            <a:stCxn id="1434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0" name="Google Shape;1440;p90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1" name="Google Shape;1441;p90"/>
          <p:cNvSpPr txBox="1"/>
          <p:nvPr/>
        </p:nvSpPr>
        <p:spPr>
          <a:xfrm>
            <a:off x="871550" y="3659275"/>
            <a:ext cx="37494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 Handle duplicate messages </a:t>
            </a:r>
            <a:b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(via idempotency_key)</a:t>
            </a:r>
            <a:endParaRPr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2" name="Google Shape;1442;p90"/>
          <p:cNvSpPr/>
          <p:nvPr/>
        </p:nvSpPr>
        <p:spPr>
          <a:xfrm>
            <a:off x="1010475" y="1829525"/>
            <a:ext cx="1377300" cy="499800"/>
          </a:xfrm>
          <a:prstGeom prst="wedgeRectCallout">
            <a:avLst>
              <a:gd fmla="val 30099" name="adj1"/>
              <a:gd fmla="val 109344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{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“idempotencyKey”: abc-123…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“observedAt”:  1757265210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}</a:t>
            </a:r>
            <a:endParaRPr i="1"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3" name="Google Shape;1443;p90"/>
          <p:cNvSpPr txBox="1"/>
          <p:nvPr/>
        </p:nvSpPr>
        <p:spPr>
          <a:xfrm>
            <a:off x="1090050" y="1578550"/>
            <a:ext cx="887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6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4" name="Google Shape;1444;p90"/>
          <p:cNvSpPr/>
          <p:nvPr/>
        </p:nvSpPr>
        <p:spPr>
          <a:xfrm>
            <a:off x="4398700" y="1668900"/>
            <a:ext cx="936000" cy="499800"/>
          </a:xfrm>
          <a:prstGeom prst="wedgeRectCallout">
            <a:avLst>
              <a:gd fmla="val 22027" name="adj1"/>
              <a:gd fmla="val 76486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unique constraint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ro" sz="700">
                <a:latin typeface="Lato"/>
                <a:ea typeface="Lato"/>
                <a:cs typeface="Lato"/>
                <a:sym typeface="Lato"/>
              </a:rPr>
              <a:t>idempotency_key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5" name="Google Shape;1445;p90"/>
          <p:cNvSpPr/>
          <p:nvPr/>
        </p:nvSpPr>
        <p:spPr>
          <a:xfrm>
            <a:off x="2192450" y="1492600"/>
            <a:ext cx="2206216" cy="410928"/>
          </a:xfrm>
          <a:custGeom>
            <a:rect b="b" l="l" r="r" t="t"/>
            <a:pathLst>
              <a:path extrusionOk="0" h="16370" w="92952">
                <a:moveTo>
                  <a:pt x="0" y="16370"/>
                </a:moveTo>
                <a:cubicBezTo>
                  <a:pt x="4675" y="3891"/>
                  <a:pt x="23146" y="0"/>
                  <a:pt x="36472" y="0"/>
                </a:cubicBezTo>
                <a:cubicBezTo>
                  <a:pt x="55921" y="0"/>
                  <a:pt x="77602" y="2702"/>
                  <a:pt x="92952" y="14647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446" name="Google Shape;1446;p90"/>
          <p:cNvSpPr/>
          <p:nvPr/>
        </p:nvSpPr>
        <p:spPr>
          <a:xfrm>
            <a:off x="5605650" y="1206275"/>
            <a:ext cx="1050600" cy="775200"/>
          </a:xfrm>
          <a:prstGeom prst="wedgeRectCallout">
            <a:avLst>
              <a:gd fmla="val 28177" name="adj1"/>
              <a:gd fmla="val 105075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select * from inbox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where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 status = ‘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unprocessed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’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order by </a:t>
            </a:r>
            <a:br>
              <a:rPr lang="ro" sz="800">
                <a:latin typeface="Lato"/>
                <a:ea typeface="Lato"/>
                <a:cs typeface="Lato"/>
                <a:sym typeface="Lato"/>
              </a:rPr>
            </a:br>
            <a:r>
              <a:rPr b="1" lang="ro" sz="800">
                <a:latin typeface="Lato"/>
                <a:ea typeface="Lato"/>
                <a:cs typeface="Lato"/>
                <a:sym typeface="Lato"/>
              </a:rPr>
              <a:t>observed_at</a:t>
            </a:r>
            <a:r>
              <a:rPr lang="ro" sz="800">
                <a:latin typeface="Lato"/>
                <a:ea typeface="Lato"/>
                <a:cs typeface="Lato"/>
                <a:sym typeface="Lato"/>
              </a:rPr>
              <a:t> desc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7" name="Google Shape;1447;p90"/>
          <p:cNvSpPr/>
          <p:nvPr/>
        </p:nvSpPr>
        <p:spPr>
          <a:xfrm>
            <a:off x="2188275" y="1138225"/>
            <a:ext cx="3417376" cy="693675"/>
          </a:xfrm>
          <a:custGeom>
            <a:rect b="b" l="l" r="r" t="t"/>
            <a:pathLst>
              <a:path extrusionOk="0" h="27747" w="134344">
                <a:moveTo>
                  <a:pt x="0" y="27747"/>
                </a:moveTo>
                <a:cubicBezTo>
                  <a:pt x="3013" y="18713"/>
                  <a:pt x="13901" y="14173"/>
                  <a:pt x="22571" y="10232"/>
                </a:cubicBezTo>
                <a:cubicBezTo>
                  <a:pt x="49278" y="-1908"/>
                  <a:pt x="81509" y="-1936"/>
                  <a:pt x="110328" y="3551"/>
                </a:cubicBezTo>
                <a:cubicBezTo>
                  <a:pt x="118507" y="5108"/>
                  <a:pt x="126181" y="8777"/>
                  <a:pt x="134344" y="10413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91"/>
          <p:cNvSpPr txBox="1"/>
          <p:nvPr>
            <p:ph type="title"/>
          </p:nvPr>
        </p:nvSpPr>
        <p:spPr>
          <a:xfrm>
            <a:off x="687425" y="587475"/>
            <a:ext cx="2654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453" name="Google Shape;1453;p91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4" name="Google Shape;1454;p91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5" name="Google Shape;1455;p91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6" name="Google Shape;1456;p91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7" name="Google Shape;1457;p91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8" name="Google Shape;1458;p91"/>
          <p:cNvCxnSpPr>
            <a:stCxn id="1457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9" name="Google Shape;1459;p91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0" name="Google Shape;1460;p91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1" name="Google Shape;1461;p91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2" name="Google Shape;1462;p91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3" name="Google Shape;1463;p91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4" name="Google Shape;1464;p91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5" name="Google Shape;1465;p91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6" name="Google Shape;1466;p91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67" name="Google Shape;1467;p91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8" name="Google Shape;1468;p91"/>
          <p:cNvCxnSpPr>
            <a:stCxn id="1453" idx="4"/>
            <a:endCxn id="1462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9" name="Google Shape;1469;p91"/>
          <p:cNvCxnSpPr>
            <a:stCxn id="1464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0" name="Google Shape;1470;p91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1" name="Google Shape;1471;p91"/>
          <p:cNvSpPr txBox="1"/>
          <p:nvPr/>
        </p:nvSpPr>
        <p:spPr>
          <a:xfrm>
            <a:off x="871550" y="3659275"/>
            <a:ext cx="3749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 Handle duplicate messages </a:t>
            </a:r>
            <a:b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(via idempotency_key)</a:t>
            </a:r>
            <a:endParaRPr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2" name="Google Shape;1472;p91"/>
          <p:cNvSpPr/>
          <p:nvPr/>
        </p:nvSpPr>
        <p:spPr>
          <a:xfrm>
            <a:off x="4982575" y="3509050"/>
            <a:ext cx="1237200" cy="663600"/>
          </a:xfrm>
          <a:prstGeom prst="wedgeRectCallout">
            <a:avLst>
              <a:gd fmla="val 37571" name="adj1"/>
              <a:gd fmla="val -102057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retryable exceptions</a:t>
            </a:r>
            <a:br>
              <a:rPr lang="ro" sz="800">
                <a:latin typeface="Lato"/>
                <a:ea typeface="Lato"/>
                <a:cs typeface="Lato"/>
                <a:sym typeface="Lato"/>
              </a:rPr>
            </a:br>
            <a:r>
              <a:rPr lang="ro" sz="800">
                <a:latin typeface="Lato"/>
                <a:ea typeface="Lato"/>
                <a:cs typeface="Lato"/>
                <a:sym typeface="Lato"/>
              </a:rPr>
              <a:t>will leave 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the inbox record 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in ‘</a:t>
            </a:r>
            <a:r>
              <a:rPr i="1" lang="ro" sz="800">
                <a:latin typeface="Lato"/>
                <a:ea typeface="Lato"/>
                <a:cs typeface="Lato"/>
                <a:sym typeface="Lato"/>
              </a:rPr>
              <a:t>unprocessed</a:t>
            </a:r>
            <a:r>
              <a:rPr lang="ro" sz="800">
                <a:latin typeface="Lato"/>
                <a:ea typeface="Lato"/>
                <a:cs typeface="Lato"/>
                <a:sym typeface="Lato"/>
              </a:rPr>
              <a:t>’ status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3" name="Google Shape;1473;p91"/>
          <p:cNvSpPr/>
          <p:nvPr/>
        </p:nvSpPr>
        <p:spPr>
          <a:xfrm>
            <a:off x="1010475" y="1829525"/>
            <a:ext cx="1377300" cy="499800"/>
          </a:xfrm>
          <a:prstGeom prst="wedgeRectCallout">
            <a:avLst>
              <a:gd fmla="val 30099" name="adj1"/>
              <a:gd fmla="val 109344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{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“idempotencyKey”: abc-123…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“observedAt”:  1757265210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}</a:t>
            </a:r>
            <a:endParaRPr i="1"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4" name="Google Shape;1474;p91"/>
          <p:cNvSpPr txBox="1"/>
          <p:nvPr/>
        </p:nvSpPr>
        <p:spPr>
          <a:xfrm>
            <a:off x="1090050" y="1578550"/>
            <a:ext cx="887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6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5" name="Google Shape;1475;p91"/>
          <p:cNvSpPr/>
          <p:nvPr/>
        </p:nvSpPr>
        <p:spPr>
          <a:xfrm>
            <a:off x="4398700" y="1668900"/>
            <a:ext cx="936000" cy="499800"/>
          </a:xfrm>
          <a:prstGeom prst="wedgeRectCallout">
            <a:avLst>
              <a:gd fmla="val 22027" name="adj1"/>
              <a:gd fmla="val 76486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unique constraint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ro" sz="700">
                <a:latin typeface="Lato"/>
                <a:ea typeface="Lato"/>
                <a:cs typeface="Lato"/>
                <a:sym typeface="Lato"/>
              </a:rPr>
              <a:t>idempotency_key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6" name="Google Shape;1476;p91"/>
          <p:cNvSpPr/>
          <p:nvPr/>
        </p:nvSpPr>
        <p:spPr>
          <a:xfrm>
            <a:off x="2192450" y="1492600"/>
            <a:ext cx="2206216" cy="410928"/>
          </a:xfrm>
          <a:custGeom>
            <a:rect b="b" l="l" r="r" t="t"/>
            <a:pathLst>
              <a:path extrusionOk="0" h="16370" w="92952">
                <a:moveTo>
                  <a:pt x="0" y="16370"/>
                </a:moveTo>
                <a:cubicBezTo>
                  <a:pt x="4675" y="3891"/>
                  <a:pt x="23146" y="0"/>
                  <a:pt x="36472" y="0"/>
                </a:cubicBezTo>
                <a:cubicBezTo>
                  <a:pt x="55921" y="0"/>
                  <a:pt x="77602" y="2702"/>
                  <a:pt x="92952" y="14647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477" name="Google Shape;1477;p91"/>
          <p:cNvSpPr/>
          <p:nvPr/>
        </p:nvSpPr>
        <p:spPr>
          <a:xfrm>
            <a:off x="5605650" y="1206275"/>
            <a:ext cx="1050600" cy="775200"/>
          </a:xfrm>
          <a:prstGeom prst="wedgeRectCallout">
            <a:avLst>
              <a:gd fmla="val 28177" name="adj1"/>
              <a:gd fmla="val 105075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select * from inbox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where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 status = ‘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unprocessed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’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order by </a:t>
            </a:r>
            <a:br>
              <a:rPr lang="ro" sz="800">
                <a:latin typeface="Lato"/>
                <a:ea typeface="Lato"/>
                <a:cs typeface="Lato"/>
                <a:sym typeface="Lato"/>
              </a:rPr>
            </a:br>
            <a:r>
              <a:rPr b="1" lang="ro" sz="800">
                <a:latin typeface="Lato"/>
                <a:ea typeface="Lato"/>
                <a:cs typeface="Lato"/>
                <a:sym typeface="Lato"/>
              </a:rPr>
              <a:t>observed_at</a:t>
            </a:r>
            <a:r>
              <a:rPr lang="ro" sz="800">
                <a:latin typeface="Lato"/>
                <a:ea typeface="Lato"/>
                <a:cs typeface="Lato"/>
                <a:sym typeface="Lato"/>
              </a:rPr>
              <a:t> desc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8" name="Google Shape;1478;p91"/>
          <p:cNvSpPr/>
          <p:nvPr/>
        </p:nvSpPr>
        <p:spPr>
          <a:xfrm>
            <a:off x="2188275" y="1138225"/>
            <a:ext cx="3417376" cy="693675"/>
          </a:xfrm>
          <a:custGeom>
            <a:rect b="b" l="l" r="r" t="t"/>
            <a:pathLst>
              <a:path extrusionOk="0" h="27747" w="134344">
                <a:moveTo>
                  <a:pt x="0" y="27747"/>
                </a:moveTo>
                <a:cubicBezTo>
                  <a:pt x="3013" y="18713"/>
                  <a:pt x="13901" y="14173"/>
                  <a:pt x="22571" y="10232"/>
                </a:cubicBezTo>
                <a:cubicBezTo>
                  <a:pt x="49278" y="-1908"/>
                  <a:pt x="81509" y="-1936"/>
                  <a:pt x="110328" y="3551"/>
                </a:cubicBezTo>
                <a:cubicBezTo>
                  <a:pt x="118507" y="5108"/>
                  <a:pt x="126181" y="8777"/>
                  <a:pt x="134344" y="10413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92"/>
          <p:cNvSpPr txBox="1"/>
          <p:nvPr>
            <p:ph type="title"/>
          </p:nvPr>
        </p:nvSpPr>
        <p:spPr>
          <a:xfrm>
            <a:off x="687425" y="587475"/>
            <a:ext cx="3327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Inbox Pattern</a:t>
            </a:r>
            <a:endParaRPr/>
          </a:p>
        </p:txBody>
      </p:sp>
      <p:sp>
        <p:nvSpPr>
          <p:cNvPr id="1484" name="Google Shape;1484;p92"/>
          <p:cNvSpPr/>
          <p:nvPr/>
        </p:nvSpPr>
        <p:spPr>
          <a:xfrm>
            <a:off x="5037263" y="2252875"/>
            <a:ext cx="626750" cy="7752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5" name="Google Shape;1485;p92"/>
          <p:cNvSpPr/>
          <p:nvPr/>
        </p:nvSpPr>
        <p:spPr>
          <a:xfrm rot="5400000">
            <a:off x="989475" y="2124038"/>
            <a:ext cx="434475" cy="1182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A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6" name="Google Shape;1486;p92"/>
          <p:cNvSpPr/>
          <p:nvPr/>
        </p:nvSpPr>
        <p:spPr>
          <a:xfrm>
            <a:off x="2482275" y="2264875"/>
            <a:ext cx="1836300" cy="905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7" name="Google Shape;1487;p92"/>
          <p:cNvSpPr txBox="1"/>
          <p:nvPr/>
        </p:nvSpPr>
        <p:spPr>
          <a:xfrm>
            <a:off x="3029725" y="2629063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8" name="Google Shape;1488;p92"/>
          <p:cNvSpPr/>
          <p:nvPr/>
        </p:nvSpPr>
        <p:spPr>
          <a:xfrm>
            <a:off x="2652875" y="238341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save messages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89" name="Google Shape;1489;p92"/>
          <p:cNvCxnSpPr>
            <a:stCxn id="1488" idx="3"/>
          </p:cNvCxnSpPr>
          <p:nvPr/>
        </p:nvCxnSpPr>
        <p:spPr>
          <a:xfrm flipH="1" rot="10800000">
            <a:off x="4177475" y="2714913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0" name="Google Shape;1490;p92"/>
          <p:cNvSpPr txBox="1"/>
          <p:nvPr/>
        </p:nvSpPr>
        <p:spPr>
          <a:xfrm>
            <a:off x="5095488" y="2631300"/>
            <a:ext cx="5103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inbox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1" name="Google Shape;1491;p92"/>
          <p:cNvSpPr/>
          <p:nvPr/>
        </p:nvSpPr>
        <p:spPr>
          <a:xfrm>
            <a:off x="6721425" y="1388725"/>
            <a:ext cx="1991700" cy="292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2" name="Google Shape;1492;p92"/>
          <p:cNvSpPr txBox="1"/>
          <p:nvPr/>
        </p:nvSpPr>
        <p:spPr>
          <a:xfrm>
            <a:off x="7384063" y="2206200"/>
            <a:ext cx="9855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3" name="Google Shape;1493;p92"/>
          <p:cNvSpPr/>
          <p:nvPr/>
        </p:nvSpPr>
        <p:spPr>
          <a:xfrm>
            <a:off x="6954963" y="1933150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pull unprocessed entries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from the inbox table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4" name="Google Shape;1494;p92"/>
          <p:cNvSpPr/>
          <p:nvPr/>
        </p:nvSpPr>
        <p:spPr>
          <a:xfrm>
            <a:off x="6954888" y="2730463"/>
            <a:ext cx="1524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invoke business logic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5" name="Google Shape;1495;p92"/>
          <p:cNvSpPr/>
          <p:nvPr/>
        </p:nvSpPr>
        <p:spPr>
          <a:xfrm>
            <a:off x="6937163" y="3563750"/>
            <a:ext cx="1602600" cy="66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update the inbox table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mark the event as processed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6" name="Google Shape;1496;p92"/>
          <p:cNvSpPr txBox="1"/>
          <p:nvPr/>
        </p:nvSpPr>
        <p:spPr>
          <a:xfrm>
            <a:off x="6721350" y="1412975"/>
            <a:ext cx="18363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@Scheduled  (or  CDC)</a:t>
            </a:r>
            <a:b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o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@Transactional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7" name="Google Shape;1497;p92"/>
          <p:cNvSpPr txBox="1"/>
          <p:nvPr/>
        </p:nvSpPr>
        <p:spPr>
          <a:xfrm>
            <a:off x="430875" y="2561325"/>
            <a:ext cx="121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order.created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8" name="Google Shape;1498;p92"/>
          <p:cNvCxnSpPr/>
          <p:nvPr/>
        </p:nvCxnSpPr>
        <p:spPr>
          <a:xfrm flipH="1" rot="10800000">
            <a:off x="1797875" y="2729638"/>
            <a:ext cx="855000" cy="3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9" name="Google Shape;1499;p92"/>
          <p:cNvCxnSpPr>
            <a:stCxn id="1484" idx="4"/>
            <a:endCxn id="1493" idx="1"/>
          </p:cNvCxnSpPr>
          <p:nvPr/>
        </p:nvCxnSpPr>
        <p:spPr>
          <a:xfrm flipH="1" rot="10800000">
            <a:off x="5664012" y="2264875"/>
            <a:ext cx="1290900" cy="3756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0" name="Google Shape;1500;p92"/>
          <p:cNvCxnSpPr>
            <a:stCxn id="1495" idx="1"/>
          </p:cNvCxnSpPr>
          <p:nvPr/>
        </p:nvCxnSpPr>
        <p:spPr>
          <a:xfrm rot="10800000">
            <a:off x="5667263" y="2820650"/>
            <a:ext cx="1269900" cy="1074900"/>
          </a:xfrm>
          <a:prstGeom prst="straightConnector1">
            <a:avLst/>
          </a:prstGeom>
          <a:noFill/>
          <a:ln cap="flat" cmpd="sng" w="9525">
            <a:solidFill>
              <a:srgbClr val="A2C4C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1" name="Google Shape;1501;p92"/>
          <p:cNvSpPr/>
          <p:nvPr/>
        </p:nvSpPr>
        <p:spPr>
          <a:xfrm>
            <a:off x="4398700" y="1668900"/>
            <a:ext cx="936000" cy="499800"/>
          </a:xfrm>
          <a:prstGeom prst="wedgeRectCallout">
            <a:avLst>
              <a:gd fmla="val 22027" name="adj1"/>
              <a:gd fmla="val 76486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unique constraint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ro" sz="700">
                <a:latin typeface="Lato"/>
                <a:ea typeface="Lato"/>
                <a:cs typeface="Lato"/>
                <a:sym typeface="Lato"/>
              </a:rPr>
              <a:t>idempotency_key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)</a:t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2" name="Google Shape;1502;p92"/>
          <p:cNvSpPr txBox="1"/>
          <p:nvPr/>
        </p:nvSpPr>
        <p:spPr>
          <a:xfrm>
            <a:off x="1827250" y="2515300"/>
            <a:ext cx="5103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✉️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3" name="Google Shape;1503;p92"/>
          <p:cNvSpPr/>
          <p:nvPr/>
        </p:nvSpPr>
        <p:spPr>
          <a:xfrm>
            <a:off x="2192450" y="1492600"/>
            <a:ext cx="2206216" cy="410928"/>
          </a:xfrm>
          <a:custGeom>
            <a:rect b="b" l="l" r="r" t="t"/>
            <a:pathLst>
              <a:path extrusionOk="0" h="16370" w="92952">
                <a:moveTo>
                  <a:pt x="0" y="16370"/>
                </a:moveTo>
                <a:cubicBezTo>
                  <a:pt x="4675" y="3891"/>
                  <a:pt x="23146" y="0"/>
                  <a:pt x="36472" y="0"/>
                </a:cubicBezTo>
                <a:cubicBezTo>
                  <a:pt x="55921" y="0"/>
                  <a:pt x="77602" y="2702"/>
                  <a:pt x="92952" y="14647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504" name="Google Shape;1504;p92"/>
          <p:cNvSpPr txBox="1"/>
          <p:nvPr/>
        </p:nvSpPr>
        <p:spPr>
          <a:xfrm>
            <a:off x="871550" y="3659275"/>
            <a:ext cx="37494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 Handle duplicate messages </a:t>
            </a:r>
            <a:b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(via idempotency_key)</a:t>
            </a:r>
            <a:endParaRPr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✅ Handle out-of-order messages</a:t>
            </a:r>
            <a:br>
              <a:rPr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i="1" lang="ro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(via observed_at &amp; retryable exceptions)</a:t>
            </a:r>
            <a:endParaRPr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5" name="Google Shape;1505;p92"/>
          <p:cNvSpPr/>
          <p:nvPr/>
        </p:nvSpPr>
        <p:spPr>
          <a:xfrm>
            <a:off x="5605650" y="1206275"/>
            <a:ext cx="1050600" cy="775200"/>
          </a:xfrm>
          <a:prstGeom prst="wedgeRectCallout">
            <a:avLst>
              <a:gd fmla="val 28177" name="adj1"/>
              <a:gd fmla="val 105075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select * from inbox</a:t>
            </a:r>
            <a:br>
              <a:rPr lang="ro" sz="700">
                <a:latin typeface="Lato"/>
                <a:ea typeface="Lato"/>
                <a:cs typeface="Lato"/>
                <a:sym typeface="Lato"/>
              </a:rPr>
            </a:br>
            <a:r>
              <a:rPr lang="ro" sz="700">
                <a:latin typeface="Lato"/>
                <a:ea typeface="Lato"/>
                <a:cs typeface="Lato"/>
                <a:sym typeface="Lato"/>
              </a:rPr>
              <a:t>where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700">
                <a:latin typeface="Lato"/>
                <a:ea typeface="Lato"/>
                <a:cs typeface="Lato"/>
                <a:sym typeface="Lato"/>
              </a:rPr>
              <a:t> status = ‘</a:t>
            </a:r>
            <a:r>
              <a:rPr i="1" lang="ro" sz="700">
                <a:latin typeface="Lato"/>
                <a:ea typeface="Lato"/>
                <a:cs typeface="Lato"/>
                <a:sym typeface="Lato"/>
              </a:rPr>
              <a:t>unprocessed</a:t>
            </a:r>
            <a:r>
              <a:rPr lang="ro" sz="700">
                <a:latin typeface="Lato"/>
                <a:ea typeface="Lato"/>
                <a:cs typeface="Lato"/>
                <a:sym typeface="Lato"/>
              </a:rPr>
              <a:t>’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order by </a:t>
            </a:r>
            <a:br>
              <a:rPr lang="ro" sz="800">
                <a:latin typeface="Lato"/>
                <a:ea typeface="Lato"/>
                <a:cs typeface="Lato"/>
                <a:sym typeface="Lato"/>
              </a:rPr>
            </a:br>
            <a:r>
              <a:rPr b="1" lang="ro" sz="800">
                <a:latin typeface="Lato"/>
                <a:ea typeface="Lato"/>
                <a:cs typeface="Lato"/>
                <a:sym typeface="Lato"/>
              </a:rPr>
              <a:t>observed_at</a:t>
            </a:r>
            <a:r>
              <a:rPr lang="ro" sz="800">
                <a:latin typeface="Lato"/>
                <a:ea typeface="Lato"/>
                <a:cs typeface="Lato"/>
                <a:sym typeface="Lato"/>
              </a:rPr>
              <a:t> desc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6" name="Google Shape;1506;p92"/>
          <p:cNvSpPr/>
          <p:nvPr/>
        </p:nvSpPr>
        <p:spPr>
          <a:xfrm>
            <a:off x="4982575" y="3509050"/>
            <a:ext cx="1237200" cy="663600"/>
          </a:xfrm>
          <a:prstGeom prst="wedgeRectCallout">
            <a:avLst>
              <a:gd fmla="val 37571" name="adj1"/>
              <a:gd fmla="val -102057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retryable exceptions</a:t>
            </a:r>
            <a:br>
              <a:rPr lang="ro" sz="800">
                <a:latin typeface="Lato"/>
                <a:ea typeface="Lato"/>
                <a:cs typeface="Lato"/>
                <a:sym typeface="Lato"/>
              </a:rPr>
            </a:br>
            <a:r>
              <a:rPr lang="ro" sz="800">
                <a:latin typeface="Lato"/>
                <a:ea typeface="Lato"/>
                <a:cs typeface="Lato"/>
                <a:sym typeface="Lato"/>
              </a:rPr>
              <a:t>will leave 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the inbox record 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800">
                <a:latin typeface="Lato"/>
                <a:ea typeface="Lato"/>
                <a:cs typeface="Lato"/>
                <a:sym typeface="Lato"/>
              </a:rPr>
              <a:t>in ‘</a:t>
            </a:r>
            <a:r>
              <a:rPr i="1" lang="ro" sz="800">
                <a:latin typeface="Lato"/>
                <a:ea typeface="Lato"/>
                <a:cs typeface="Lato"/>
                <a:sym typeface="Lato"/>
              </a:rPr>
              <a:t>unprocessed</a:t>
            </a:r>
            <a:r>
              <a:rPr lang="ro" sz="800">
                <a:latin typeface="Lato"/>
                <a:ea typeface="Lato"/>
                <a:cs typeface="Lato"/>
                <a:sym typeface="Lato"/>
              </a:rPr>
              <a:t>’ status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7" name="Google Shape;1507;p92"/>
          <p:cNvSpPr/>
          <p:nvPr/>
        </p:nvSpPr>
        <p:spPr>
          <a:xfrm>
            <a:off x="1010475" y="1829525"/>
            <a:ext cx="1377300" cy="499800"/>
          </a:xfrm>
          <a:prstGeom prst="wedgeRectCallout">
            <a:avLst>
              <a:gd fmla="val 30099" name="adj1"/>
              <a:gd fmla="val 109344" name="adj2"/>
            </a:avLst>
          </a:prstGeom>
          <a:solidFill>
            <a:srgbClr val="F6FE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{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“idempotencyKey”: abc-123…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      “observedAt”:  1757265210</a:t>
            </a:r>
            <a:endParaRPr i="1"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700">
                <a:latin typeface="Lato"/>
                <a:ea typeface="Lato"/>
                <a:cs typeface="Lato"/>
                <a:sym typeface="Lato"/>
              </a:rPr>
              <a:t>}</a:t>
            </a:r>
            <a:endParaRPr i="1"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8" name="Google Shape;1508;p92"/>
          <p:cNvSpPr txBox="1"/>
          <p:nvPr/>
        </p:nvSpPr>
        <p:spPr>
          <a:xfrm>
            <a:off x="1090050" y="1578550"/>
            <a:ext cx="8874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o" sz="600">
                <a:latin typeface="Lato"/>
                <a:ea typeface="Lato"/>
                <a:cs typeface="Lato"/>
                <a:sym typeface="Lato"/>
              </a:rPr>
              <a:t>// message headers: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9" name="Google Shape;1509;p92"/>
          <p:cNvSpPr/>
          <p:nvPr/>
        </p:nvSpPr>
        <p:spPr>
          <a:xfrm>
            <a:off x="2188275" y="1138225"/>
            <a:ext cx="3417376" cy="693675"/>
          </a:xfrm>
          <a:custGeom>
            <a:rect b="b" l="l" r="r" t="t"/>
            <a:pathLst>
              <a:path extrusionOk="0" h="27747" w="134344">
                <a:moveTo>
                  <a:pt x="0" y="27747"/>
                </a:moveTo>
                <a:cubicBezTo>
                  <a:pt x="3013" y="18713"/>
                  <a:pt x="13901" y="14173"/>
                  <a:pt x="22571" y="10232"/>
                </a:cubicBezTo>
                <a:cubicBezTo>
                  <a:pt x="49278" y="-1908"/>
                  <a:pt x="81509" y="-1936"/>
                  <a:pt x="110328" y="3551"/>
                </a:cubicBezTo>
                <a:cubicBezTo>
                  <a:pt x="118507" y="5108"/>
                  <a:pt x="126181" y="8777"/>
                  <a:pt x="134344" y="10413"/>
                </a:cubicBezTo>
              </a:path>
            </a:pathLst>
          </a:custGeom>
          <a:noFill/>
          <a:ln cap="flat" cmpd="sng" w="9525">
            <a:solidFill>
              <a:srgbClr val="D0E0E3"/>
            </a:solidFill>
            <a:prstDash val="dash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93"/>
          <p:cNvSpPr txBox="1"/>
          <p:nvPr>
            <p:ph idx="2" type="body"/>
          </p:nvPr>
        </p:nvSpPr>
        <p:spPr>
          <a:xfrm>
            <a:off x="5271450" y="1370400"/>
            <a:ext cx="3374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900"/>
              <a:t>✅ Architectural Styles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Orchestration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Choreography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Dual Write Problem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o" sz="1900"/>
              <a:t>✅ Outbox Pattern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o" sz="1900"/>
              <a:t>✅ Inbox Pattern</a:t>
            </a:r>
            <a:endParaRPr sz="1900"/>
          </a:p>
        </p:txBody>
      </p:sp>
      <p:sp>
        <p:nvSpPr>
          <p:cNvPr id="1515" name="Google Shape;1515;p93"/>
          <p:cNvSpPr txBox="1"/>
          <p:nvPr>
            <p:ph type="title"/>
          </p:nvPr>
        </p:nvSpPr>
        <p:spPr>
          <a:xfrm>
            <a:off x="495000" y="1322275"/>
            <a:ext cx="4275300" cy="16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Event-Driven </a:t>
            </a:r>
            <a:br>
              <a:rPr lang="ro"/>
            </a:br>
            <a:r>
              <a:rPr lang="ro"/>
              <a:t>Microservices</a:t>
            </a:r>
            <a:br>
              <a:rPr lang="ro"/>
            </a:br>
            <a:r>
              <a:rPr lang="ro"/>
              <a:t>Patterns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5300" y="343712"/>
            <a:ext cx="3711750" cy="459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94"/>
          <p:cNvSpPr/>
          <p:nvPr/>
        </p:nvSpPr>
        <p:spPr>
          <a:xfrm>
            <a:off x="7197575" y="2281813"/>
            <a:ext cx="1462500" cy="781500"/>
          </a:xfrm>
          <a:prstGeom prst="wedgeRectCallout">
            <a:avLst>
              <a:gd fmla="val -121491" name="adj1"/>
              <a:gd fmla="val 111847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out-of-order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messages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2" name="Google Shape;1522;p94"/>
          <p:cNvSpPr/>
          <p:nvPr/>
        </p:nvSpPr>
        <p:spPr>
          <a:xfrm>
            <a:off x="7370525" y="3267763"/>
            <a:ext cx="1620900" cy="849900"/>
          </a:xfrm>
          <a:prstGeom prst="wedgeRectCallout">
            <a:avLst>
              <a:gd fmla="val -124136" name="adj1"/>
              <a:gd fmla="val 3581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lost messages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&amp; data inconsistencies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3" name="Google Shape;1523;p94"/>
          <p:cNvSpPr/>
          <p:nvPr/>
        </p:nvSpPr>
        <p:spPr>
          <a:xfrm>
            <a:off x="6935900" y="4322100"/>
            <a:ext cx="1462500" cy="714300"/>
          </a:xfrm>
          <a:prstGeom prst="wedgeRectCallout">
            <a:avLst>
              <a:gd fmla="val -100150" name="adj1"/>
              <a:gd fmla="val -103258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duplicate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messages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4" name="Google Shape;1524;p94"/>
          <p:cNvSpPr/>
          <p:nvPr/>
        </p:nvSpPr>
        <p:spPr>
          <a:xfrm>
            <a:off x="6504850" y="1386675"/>
            <a:ext cx="1462500" cy="714300"/>
          </a:xfrm>
          <a:prstGeom prst="wedgeRectCallout">
            <a:avLst>
              <a:gd fmla="val -82744" name="adj1"/>
              <a:gd fmla="val 219449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race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conditions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5" name="Google Shape;1525;p94"/>
          <p:cNvSpPr/>
          <p:nvPr/>
        </p:nvSpPr>
        <p:spPr>
          <a:xfrm>
            <a:off x="743400" y="2285587"/>
            <a:ext cx="1620900" cy="714300"/>
          </a:xfrm>
          <a:prstGeom prst="wedgeRectCallout">
            <a:avLst>
              <a:gd fmla="val 69020" name="adj1"/>
              <a:gd fmla="val 93604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tight coupling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&amp; low cohesion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6" name="Google Shape;1526;p94"/>
          <p:cNvSpPr/>
          <p:nvPr/>
        </p:nvSpPr>
        <p:spPr>
          <a:xfrm>
            <a:off x="164425" y="3202438"/>
            <a:ext cx="1762800" cy="849900"/>
          </a:xfrm>
          <a:prstGeom prst="wedgeRectCallout">
            <a:avLst>
              <a:gd fmla="val 93237" name="adj1"/>
              <a:gd fmla="val 26102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increasingly harder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to add new components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7" name="Google Shape;1527;p94"/>
          <p:cNvSpPr/>
          <p:nvPr/>
        </p:nvSpPr>
        <p:spPr>
          <a:xfrm>
            <a:off x="482825" y="4254924"/>
            <a:ext cx="1620900" cy="781500"/>
          </a:xfrm>
          <a:prstGeom prst="wedgeRectCallout">
            <a:avLst>
              <a:gd fmla="val 86652" name="adj1"/>
              <a:gd fmla="val -61046" name="adj2"/>
            </a:avLst>
          </a:prstGeom>
          <a:solidFill>
            <a:srgbClr val="FFF0F0">
              <a:alpha val="86080"/>
            </a:srgbClr>
          </a:solidFill>
          <a:ln cap="flat" cmpd="sng" w="9525">
            <a:solidFill>
              <a:srgbClr val="FED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latin typeface="Lato"/>
                <a:ea typeface="Lato"/>
                <a:cs typeface="Lato"/>
                <a:sym typeface="Lato"/>
              </a:rPr>
              <a:t>complex</a:t>
            </a:r>
            <a:br>
              <a:rPr lang="ro">
                <a:latin typeface="Lato"/>
                <a:ea typeface="Lato"/>
                <a:cs typeface="Lato"/>
                <a:sym typeface="Lato"/>
              </a:rPr>
            </a:br>
            <a:r>
              <a:rPr lang="ro">
                <a:latin typeface="Lato"/>
                <a:ea typeface="Lato"/>
                <a:cs typeface="Lato"/>
                <a:sym typeface="Lato"/>
              </a:rPr>
              <a:t>error handling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8" name="Google Shape;1528;p94"/>
          <p:cNvSpPr txBox="1"/>
          <p:nvPr/>
        </p:nvSpPr>
        <p:spPr>
          <a:xfrm>
            <a:off x="217500" y="1336250"/>
            <a:ext cx="2218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ro" sz="1600">
                <a:solidFill>
                  <a:schemeClr val="dk1"/>
                </a:solidFill>
              </a:rPr>
              <a:t>Architectural Problems</a:t>
            </a:r>
            <a:endParaRPr b="1" i="1" sz="1600">
              <a:solidFill>
                <a:schemeClr val="dk1"/>
              </a:solidFill>
            </a:endParaRPr>
          </a:p>
        </p:txBody>
      </p:sp>
      <p:sp>
        <p:nvSpPr>
          <p:cNvPr id="1529" name="Google Shape;1529;p94"/>
          <p:cNvSpPr txBox="1"/>
          <p:nvPr/>
        </p:nvSpPr>
        <p:spPr>
          <a:xfrm>
            <a:off x="6572400" y="567150"/>
            <a:ext cx="25716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ro" sz="1600">
                <a:solidFill>
                  <a:schemeClr val="dk1"/>
                </a:solidFill>
              </a:rPr>
              <a:t>Data Consistency</a:t>
            </a:r>
            <a:br>
              <a:rPr b="1" i="1" lang="ro" sz="1600">
                <a:solidFill>
                  <a:schemeClr val="dk1"/>
                </a:solidFill>
              </a:rPr>
            </a:br>
            <a:r>
              <a:rPr b="1" i="1" lang="ro" sz="1600">
                <a:solidFill>
                  <a:schemeClr val="dk1"/>
                </a:solidFill>
              </a:rPr>
              <a:t>Problems</a:t>
            </a:r>
            <a:endParaRPr b="1"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95"/>
          <p:cNvSpPr txBox="1"/>
          <p:nvPr>
            <p:ph idx="1" type="body"/>
          </p:nvPr>
        </p:nvSpPr>
        <p:spPr>
          <a:xfrm>
            <a:off x="538275" y="2538125"/>
            <a:ext cx="4033800" cy="26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o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b="1" i="1" sz="1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control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explicit error handling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o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Choreography</a:t>
            </a:r>
            <a:endParaRPr b="1" i="1" sz="1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decoupling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evolutionary architecture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95"/>
          <p:cNvSpPr txBox="1"/>
          <p:nvPr>
            <p:ph idx="1" type="body"/>
          </p:nvPr>
        </p:nvSpPr>
        <p:spPr>
          <a:xfrm>
            <a:off x="4748500" y="2538225"/>
            <a:ext cx="4260900" cy="26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o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Outbox </a:t>
            </a:r>
            <a:r>
              <a:rPr b="1" i="1" lang="ro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1" i="1" sz="1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eventual consistency</a:t>
            </a:r>
            <a:b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(guarantees at least once delivery)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o" sz="1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Inbox Pattern</a:t>
            </a:r>
            <a:endParaRPr i="1" sz="16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handles out-of-order messages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r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handles duplicate messages</a:t>
            </a:r>
            <a:endParaRPr i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95"/>
          <p:cNvSpPr txBox="1"/>
          <p:nvPr/>
        </p:nvSpPr>
        <p:spPr>
          <a:xfrm>
            <a:off x="538275" y="1373125"/>
            <a:ext cx="38067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ro" sz="1600">
                <a:solidFill>
                  <a:schemeClr val="dk1"/>
                </a:solidFill>
              </a:rPr>
              <a:t>Architectural Styles:</a:t>
            </a:r>
            <a:br>
              <a:rPr i="1" lang="ro" sz="1600"/>
            </a:br>
            <a:r>
              <a:rPr i="1" lang="ro" sz="1600"/>
              <a:t>   specify how components interact </a:t>
            </a:r>
            <a:br>
              <a:rPr i="1" lang="ro" sz="1600"/>
            </a:br>
            <a:r>
              <a:rPr i="1" lang="ro" sz="1600"/>
              <a:t>   &amp; their constraints.</a:t>
            </a:r>
            <a:br>
              <a:rPr i="1" lang="ro" sz="1600"/>
            </a:b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7" name="Google Shape;1537;p95"/>
          <p:cNvSpPr txBox="1"/>
          <p:nvPr/>
        </p:nvSpPr>
        <p:spPr>
          <a:xfrm>
            <a:off x="4748500" y="1301725"/>
            <a:ext cx="4118100" cy="1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ro" sz="1600">
                <a:solidFill>
                  <a:schemeClr val="dk1"/>
                </a:solidFill>
              </a:rPr>
              <a:t>Data Consistency Patterns</a:t>
            </a:r>
            <a:r>
              <a:rPr i="1" lang="ro" sz="1600">
                <a:solidFill>
                  <a:schemeClr val="dk1"/>
                </a:solidFill>
              </a:rPr>
              <a:t>:</a:t>
            </a:r>
            <a:br>
              <a:rPr i="1" lang="ro" sz="1600"/>
            </a:br>
            <a:r>
              <a:rPr i="1" lang="ro" sz="1600"/>
              <a:t>   strategies for reliable data </a:t>
            </a:r>
            <a:br>
              <a:rPr i="1" lang="ro" sz="1600"/>
            </a:br>
            <a:r>
              <a:rPr i="1" lang="ro" sz="1600"/>
              <a:t>     updates across boundaries</a:t>
            </a:r>
            <a:br>
              <a:rPr i="1" lang="ro" sz="1600"/>
            </a:b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